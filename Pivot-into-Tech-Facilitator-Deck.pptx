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on screen while people arrive. When the doors open, move to the next slide. Helpers greet people by name and point to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Self-paced. Say almost nothing. Helpers walk the room. Stop at the planned end even if people are enjoying it. One minute warning. Ask two people what they liked and applaud.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 still and speak slowly. Say the promise: no experience needed, nobody tested, you keep what you make. If you are remote, check the room can hear and see you and ask a helper for a thumbs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timings. In Full mode the Vault starts at 00:45 and Compound Click at 01:22. In Express mode the Vault starts at 00:22 and Compound Click at 00:50. The Facilitator Desk has live times for every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today is a taster. It does not promise a job. It shows you what the work feels like so you can decide. Ask the helpers to wave. Say where the toilets and exits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Careers link. Say: this is a taster, not a promise of a job. Your knowledge of banking is an asset in every one of these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pace: say each step, wait until most people have dropped the block, then move on. Step 3 run gives 66. Step 5 run gives 87. Ask two people what changed between the rides. Then open the sandbox: aim for the highest rating, but too wild makes the rider sick.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recap, then the six steps: gravity, height = 90, repeat 5 times, trackPoint(height), height = height - 15, end of loop. Then run. In the playground the cart stalls when the climb is equal to or larger than the total drop. Skip this part in Express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 off the mouse. Click the Real Code tab. Say: this is not Scratch and it is not Python. It is a language we built. Pause for five seconds. Let the room react before you speak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after the silence. Ask three people to say in their own words what the error means. Honest note if asked: the engine check is a prototype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to three minutes. Do not skip this in Full or Core mode. Helpers open the Vault on every laptop and sit with anyone confused about LoomSTEM.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clock line before anyone presses Start, and say it twice. Jack and other careful readers take the countdown literally. Point out the Vale drawer on the right: it is the safe, free 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after the quiz. Each idea maps to something in a bank. The spreadsheet link for the conditional: the same rule as IF(AND(amount&gt;10000, country&lt;&gt;"UK")). In Express mode skip the quiz and go straight to the certificate.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moment. Say: you solved four problems by hand. Now do the one thing the screen tells you not to. Tell everyone to use the home icon (or refresh) to reach the start screen where the red button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down out loud. When the confirmation appears, everyone says yes together. The hum needs a prior click on the page to play. Speakers can be off: the visuals work without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each scenario to about a minute. Do not lecture. The code shown is real: Shor's algorithm and Grover's algorithm written in plain English. Say: it is a taster,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plain and calm. Estimates for machines that matter are often given as 10 to 20 years, but nobody knows. Reassure the room before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what data at a bank has to stay secret for twenty years? Take two answers. Do not speak for the bank's own plans. Say the security team owns that and you can point people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the worry with the answer. Kwame, Tommy and Esther may feel alarm. Nobody is hiring quantum programmers at scale yet, but the run-up work already exists: research, security re-architecture, and understanding classical versus quantum trade-offs.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gear: so far I led, now you drive. Helpers open Scratch on every laptop and the Compound Click page. If Scratch is blocked on the venue network, demo on the big screen and tell people they can finish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two blocks live from Events (when this sprite clicked) and Looks (say Hello! for 2 seconds). Point to the exact say block, because several look similar. Then their turn: build the same two blocks, click the cat, change the message or the seconds, test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the self-paced build. Call the checkpoints out loud. Step 4 is the fiddliest: it is fine to build the smaller version first. Fast finishers can try the extensions: random returns, compound interest with a forever loop, expenses, milestone broadcast.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as the fallback display during the build. The smallest version, when this sprite clicked and change Savings by 10, is a complete working programme.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force anyone. A thumbs up from a helper is enough for people who will not volunteer. If you are remote, helpers hold the camera or share the volunteer's screen. Celebrate the smallest builds loudest.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taster line again: this shows you the work so you can decide. Connect the list to roles: developer, tester, analyst, security specialist.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two bracketed cards before the day: your contact and your follow-up link. Do not promise training or secondments you cannot confirm. Ask for feedback by a show of hands on energy, pace and clarity.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on time. Thank the helpers by name. Point people to the follow-up link and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1889772"/>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3CC7BD"/>
                </a:solidFill>
                <a:latin typeface="Arial" pitchFamily="34" charset="0"/>
                <a:ea typeface="Arial" pitchFamily="34" charset="-122"/>
                <a:cs typeface="Arial" pitchFamily="34" charset="-120"/>
              </a:rPr>
              <a:t>FACILITATOR DECK</a:t>
            </a:r>
            <a:endParaRPr lang="en-US" sz="1400" dirty="0"/>
          </a:p>
        </p:txBody>
      </p:sp>
      <p:sp>
        <p:nvSpPr>
          <p:cNvPr id="3" name="Text 1"/>
          <p:cNvSpPr/>
          <p:nvPr/>
        </p:nvSpPr>
        <p:spPr>
          <a:xfrm>
            <a:off x="812780" y="2321561"/>
            <a:ext cx="11834072" cy="1117572"/>
          </a:xfrm>
          <a:prstGeom prst="rect">
            <a:avLst/>
          </a:prstGeom>
          <a:noFill/>
          <a:ln/>
        </p:spPr>
        <p:txBody>
          <a:bodyPr wrap="none" lIns="0" tIns="0" rIns="0" bIns="0" rtlCol="0" anchor="t"/>
          <a:lstStyle/>
          <a:p>
            <a:pPr algn="l" indent="0" marL="0">
              <a:lnSpc>
                <a:spcPts val="8800"/>
              </a:lnSpc>
              <a:buNone/>
            </a:pPr>
            <a:r>
              <a:rPr lang="en-US" sz="8800" b="1" dirty="0">
                <a:solidFill>
                  <a:srgbClr val="EEF2F6"/>
                </a:solidFill>
                <a:latin typeface="Arial" pitchFamily="34" charset="0"/>
                <a:ea typeface="Arial" pitchFamily="34" charset="-122"/>
                <a:cs typeface="Arial" pitchFamily="34" charset="-120"/>
              </a:rPr>
              <a:t>Pivot into Tech</a:t>
            </a:r>
            <a:endParaRPr lang="en-US" sz="8800" dirty="0"/>
          </a:p>
        </p:txBody>
      </p:sp>
      <p:sp>
        <p:nvSpPr>
          <p:cNvPr id="4" name="Text 2"/>
          <p:cNvSpPr/>
          <p:nvPr/>
        </p:nvSpPr>
        <p:spPr>
          <a:xfrm>
            <a:off x="812780" y="3667728"/>
            <a:ext cx="8543711" cy="754242"/>
          </a:xfrm>
          <a:prstGeom prst="rect">
            <a:avLst/>
          </a:prstGeom>
          <a:noFill/>
          <a:ln/>
        </p:spPr>
        <p:txBody>
          <a:bodyPr wrap="square" lIns="0" tIns="0" rIns="0" bIns="0" rtlCol="0" anchor="t"/>
          <a:lstStyle/>
          <a:p>
            <a:pPr algn="l" indent="0" marL="0">
              <a:lnSpc>
                <a:spcPts val="2970"/>
              </a:lnSpc>
              <a:buNone/>
            </a:pPr>
            <a:r>
              <a:rPr lang="en-US" sz="2200" dirty="0">
                <a:solidFill>
                  <a:srgbClr val="B7C4D1"/>
                </a:solidFill>
                <a:latin typeface="Arial" pitchFamily="34" charset="0"/>
                <a:ea typeface="Arial" pitchFamily="34" charset="-122"/>
                <a:cs typeface="Arial" pitchFamily="34" charset="-120"/>
              </a:rPr>
              <a:t>A hands-on taster for people in financial services. No coding experience needed.</a:t>
            </a:r>
            <a:endParaRPr lang="en-US" sz="2200" dirty="0"/>
          </a:p>
        </p:txBody>
      </p:sp>
      <p:sp>
        <p:nvSpPr>
          <p:cNvPr id="5" name="Text 3"/>
          <p:cNvSpPr/>
          <p:nvPr/>
        </p:nvSpPr>
        <p:spPr>
          <a:xfrm>
            <a:off x="812780" y="6273643"/>
            <a:ext cx="4819926"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Leave this up as people arrive. Core session, about 90 minutes.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3CC7BD"/>
                </a:solidFill>
                <a:latin typeface="Arial" pitchFamily="34" charset="0"/>
                <a:ea typeface="Arial" pitchFamily="34" charset="-122"/>
                <a:cs typeface="Arial" pitchFamily="34" charset="-120"/>
              </a:rPr>
              <a:t>00:00 · ARRIVE AND WARM UP</a:t>
            </a:r>
            <a:endParaRPr lang="en-US" sz="1400" dirty="0"/>
          </a:p>
        </p:txBody>
      </p:sp>
      <p:sp>
        <p:nvSpPr>
          <p:cNvPr id="3" name="Text 1"/>
          <p:cNvSpPr/>
          <p:nvPr/>
        </p:nvSpPr>
        <p:spPr>
          <a:xfrm>
            <a:off x="812780" y="1295368"/>
            <a:ext cx="10935951" cy="1280088"/>
          </a:xfrm>
          <a:prstGeom prst="rect">
            <a:avLst/>
          </a:prstGeom>
          <a:noFill/>
          <a:ln/>
        </p:spPr>
        <p:txBody>
          <a:bodyPr wrap="square" lIns="0" tIns="0" rIns="0" bIns="0" rtlCol="0" anchor="t"/>
          <a:lstStyle/>
          <a:p>
            <a:pPr algn="l" indent="0" marL="0">
              <a:lnSpc>
                <a:spcPts val="5040"/>
              </a:lnSpc>
              <a:buNone/>
            </a:pPr>
            <a:r>
              <a:rPr lang="en-US" sz="4800" b="1" dirty="0">
                <a:solidFill>
                  <a:srgbClr val="EEF2F6"/>
                </a:solidFill>
                <a:latin typeface="Arial" pitchFamily="34" charset="0"/>
                <a:ea typeface="Arial" pitchFamily="34" charset="-122"/>
                <a:cs typeface="Arial" pitchFamily="34" charset="-120"/>
              </a:rPr>
              <a:t>Sit anywhere. Open MindForge. Press Start.</a:t>
            </a:r>
            <a:endParaRPr lang="en-US" sz="4800" dirty="0"/>
          </a:p>
        </p:txBody>
      </p:sp>
      <p:sp>
        <p:nvSpPr>
          <p:cNvPr id="4" name="Shape 2"/>
          <p:cNvSpPr/>
          <p:nvPr/>
        </p:nvSpPr>
        <p:spPr>
          <a:xfrm>
            <a:off x="812780" y="2854849"/>
            <a:ext cx="3386549" cy="1499753"/>
          </a:xfrm>
          <a:prstGeom prst="roundRect">
            <a:avLst>
              <a:gd name="adj" fmla="val 8468"/>
            </a:avLst>
          </a:prstGeom>
          <a:solidFill>
            <a:srgbClr val="16222D"/>
          </a:solidFill>
          <a:ln w="6350">
            <a:solidFill>
              <a:srgbClr val="26384A"/>
            </a:solidFill>
            <a:prstDash val="solid"/>
          </a:ln>
        </p:spPr>
      </p:sp>
      <p:sp>
        <p:nvSpPr>
          <p:cNvPr id="5" name="Text 3"/>
          <p:cNvSpPr/>
          <p:nvPr/>
        </p:nvSpPr>
        <p:spPr>
          <a:xfrm>
            <a:off x="1073123" y="3115192"/>
            <a:ext cx="3209765" cy="321262"/>
          </a:xfrm>
          <a:prstGeom prst="rect">
            <a:avLst/>
          </a:prstGeom>
          <a:noFill/>
          <a:ln/>
        </p:spPr>
        <p:txBody>
          <a:bodyPr wrap="non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Nothing can break</a:t>
            </a:r>
            <a:endParaRPr lang="en-US" sz="2200" dirty="0"/>
          </a:p>
        </p:txBody>
      </p:sp>
      <p:sp>
        <p:nvSpPr>
          <p:cNvPr id="6" name="Text 4"/>
          <p:cNvSpPr/>
          <p:nvPr/>
        </p:nvSpPr>
        <p:spPr>
          <a:xfrm>
            <a:off x="1073123" y="3525352"/>
            <a:ext cx="2966167" cy="568906"/>
          </a:xfrm>
          <a:prstGeom prst="rect">
            <a:avLst/>
          </a:prstGeom>
          <a:noFill/>
          <a:ln/>
        </p:spPr>
        <p:txBody>
          <a:bodyPr wrap="square" lIns="0" tIns="0" rIns="0" bIns="0" rtlCol="0" anchor="t"/>
          <a:lstStyle/>
          <a:p>
            <a:pPr algn="l" indent="0" marL="0">
              <a:lnSpc>
                <a:spcPts val="2240"/>
              </a:lnSpc>
              <a:buNone/>
            </a:pPr>
            <a:r>
              <a:rPr lang="en-US" sz="1600" dirty="0">
                <a:solidFill>
                  <a:srgbClr val="B7C4D1"/>
                </a:solidFill>
                <a:latin typeface="Arial" pitchFamily="34" charset="0"/>
                <a:ea typeface="Arial" pitchFamily="34" charset="-122"/>
                <a:cs typeface="Arial" pitchFamily="34" charset="-120"/>
              </a:rPr>
              <a:t>Click anything. You cannot do it wrong.</a:t>
            </a:r>
            <a:endParaRPr lang="en-US" sz="1600" dirty="0"/>
          </a:p>
        </p:txBody>
      </p:sp>
      <p:sp>
        <p:nvSpPr>
          <p:cNvPr id="7" name="Shape 5"/>
          <p:cNvSpPr/>
          <p:nvPr/>
        </p:nvSpPr>
        <p:spPr>
          <a:xfrm>
            <a:off x="4402524" y="2854849"/>
            <a:ext cx="3386549" cy="1499753"/>
          </a:xfrm>
          <a:prstGeom prst="roundRect">
            <a:avLst>
              <a:gd name="adj" fmla="val 8468"/>
            </a:avLst>
          </a:prstGeom>
          <a:solidFill>
            <a:srgbClr val="16222D"/>
          </a:solidFill>
          <a:ln w="6350">
            <a:solidFill>
              <a:srgbClr val="26384A"/>
            </a:solidFill>
            <a:prstDash val="solid"/>
          </a:ln>
        </p:spPr>
      </p:sp>
      <p:sp>
        <p:nvSpPr>
          <p:cNvPr id="8" name="Text 6"/>
          <p:cNvSpPr/>
          <p:nvPr/>
        </p:nvSpPr>
        <p:spPr>
          <a:xfrm>
            <a:off x="4662867" y="3115192"/>
            <a:ext cx="3209765" cy="321262"/>
          </a:xfrm>
          <a:prstGeom prst="rect">
            <a:avLst/>
          </a:prstGeom>
          <a:noFill/>
          <a:ln/>
        </p:spPr>
        <p:txBody>
          <a:bodyPr wrap="non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Skip any puzzle</a:t>
            </a:r>
            <a:endParaRPr lang="en-US" sz="2200" dirty="0"/>
          </a:p>
        </p:txBody>
      </p:sp>
      <p:sp>
        <p:nvSpPr>
          <p:cNvPr id="9" name="Text 7"/>
          <p:cNvSpPr/>
          <p:nvPr/>
        </p:nvSpPr>
        <p:spPr>
          <a:xfrm>
            <a:off x="4662867" y="3525352"/>
            <a:ext cx="2966167" cy="568906"/>
          </a:xfrm>
          <a:prstGeom prst="rect">
            <a:avLst/>
          </a:prstGeom>
          <a:noFill/>
          <a:ln/>
        </p:spPr>
        <p:txBody>
          <a:bodyPr wrap="square" lIns="0" tIns="0" rIns="0" bIns="0" rtlCol="0" anchor="t"/>
          <a:lstStyle/>
          <a:p>
            <a:pPr algn="l" indent="0" marL="0">
              <a:lnSpc>
                <a:spcPts val="2240"/>
              </a:lnSpc>
              <a:buNone/>
            </a:pPr>
            <a:r>
              <a:rPr lang="en-US" sz="1600" dirty="0">
                <a:solidFill>
                  <a:srgbClr val="B7C4D1"/>
                </a:solidFill>
                <a:latin typeface="Arial" pitchFamily="34" charset="0"/>
                <a:ea typeface="Arial" pitchFamily="34" charset="-122"/>
                <a:cs typeface="Arial" pitchFamily="34" charset="-120"/>
              </a:rPr>
              <a:t>Every good programmer skips and comes back.</a:t>
            </a:r>
            <a:endParaRPr lang="en-US" sz="1600" dirty="0"/>
          </a:p>
        </p:txBody>
      </p:sp>
      <p:sp>
        <p:nvSpPr>
          <p:cNvPr id="10" name="Shape 8"/>
          <p:cNvSpPr/>
          <p:nvPr/>
        </p:nvSpPr>
        <p:spPr>
          <a:xfrm>
            <a:off x="7992267" y="2854849"/>
            <a:ext cx="3386549" cy="1499753"/>
          </a:xfrm>
          <a:prstGeom prst="roundRect">
            <a:avLst>
              <a:gd name="adj" fmla="val 8468"/>
            </a:avLst>
          </a:prstGeom>
          <a:solidFill>
            <a:srgbClr val="16222D"/>
          </a:solidFill>
          <a:ln w="6350">
            <a:solidFill>
              <a:srgbClr val="26384A"/>
            </a:solidFill>
            <a:prstDash val="solid"/>
          </a:ln>
        </p:spPr>
      </p:sp>
      <p:sp>
        <p:nvSpPr>
          <p:cNvPr id="11" name="Text 9"/>
          <p:cNvSpPr/>
          <p:nvPr/>
        </p:nvSpPr>
        <p:spPr>
          <a:xfrm>
            <a:off x="8252611" y="3115192"/>
            <a:ext cx="3209765" cy="321262"/>
          </a:xfrm>
          <a:prstGeom prst="rect">
            <a:avLst/>
          </a:prstGeom>
          <a:noFill/>
          <a:ln/>
        </p:spPr>
        <p:txBody>
          <a:bodyPr wrap="non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Try a harder level</a:t>
            </a:r>
            <a:endParaRPr lang="en-US" sz="2200" dirty="0"/>
          </a:p>
        </p:txBody>
      </p:sp>
      <p:sp>
        <p:nvSpPr>
          <p:cNvPr id="12" name="Text 10"/>
          <p:cNvSpPr/>
          <p:nvPr/>
        </p:nvSpPr>
        <p:spPr>
          <a:xfrm>
            <a:off x="8252611" y="3525352"/>
            <a:ext cx="3209765" cy="284453"/>
          </a:xfrm>
          <a:prstGeom prst="rect">
            <a:avLst/>
          </a:prstGeom>
          <a:noFill/>
          <a:ln/>
        </p:spPr>
        <p:txBody>
          <a:bodyPr wrap="none" lIns="0" tIns="0" rIns="0" bIns="0" rtlCol="0" anchor="t"/>
          <a:lstStyle/>
          <a:p>
            <a:pPr algn="l" indent="0" marL="0">
              <a:lnSpc>
                <a:spcPts val="2240"/>
              </a:lnSpc>
              <a:buNone/>
            </a:pPr>
            <a:r>
              <a:rPr lang="en-US" sz="1600" dirty="0">
                <a:solidFill>
                  <a:srgbClr val="B7C4D1"/>
                </a:solidFill>
                <a:latin typeface="Arial" pitchFamily="34" charset="0"/>
                <a:ea typeface="Arial" pitchFamily="34" charset="-122"/>
                <a:cs typeface="Arial" pitchFamily="34" charset="-120"/>
              </a:rPr>
              <a:t>If it feels easy, there is more.</a:t>
            </a:r>
            <a:endParaRPr lang="en-US" sz="1600" dirty="0"/>
          </a:p>
        </p:txBody>
      </p:sp>
      <p:sp>
        <p:nvSpPr>
          <p:cNvPr id="13" name="Text 11"/>
          <p:cNvSpPr/>
          <p:nvPr/>
        </p:nvSpPr>
        <p:spPr>
          <a:xfrm>
            <a:off x="812780" y="6273643"/>
            <a:ext cx="1107000" cy="177796"/>
          </a:xfrm>
          <a:prstGeom prst="rect">
            <a:avLst/>
          </a:prstGeom>
          <a:noFill/>
          <a:ln/>
        </p:spPr>
        <p:txBody>
          <a:bodyPr wrap="squar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Pivot into Tech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22D"/>
        </a:solidFill>
      </p:bgPr>
    </p:bg>
    <p:spTree>
      <p:nvGrpSpPr>
        <p:cNvPr id="1" name=""/>
        <p:cNvGrpSpPr/>
        <p:nvPr/>
      </p:nvGrpSpPr>
      <p:grpSpPr>
        <a:xfrm>
          <a:off x="0" y="0"/>
          <a:ext cx="0" cy="0"/>
          <a:chOff x="0" y="0"/>
          <a:chExt cx="0" cy="0"/>
        </a:xfrm>
      </p:grpSpPr>
      <p:sp>
        <p:nvSpPr>
          <p:cNvPr id="2" name="Text 0"/>
          <p:cNvSpPr/>
          <p:nvPr/>
        </p:nvSpPr>
        <p:spPr>
          <a:xfrm>
            <a:off x="812780" y="1798791"/>
            <a:ext cx="10935951" cy="1621988"/>
          </a:xfrm>
          <a:prstGeom prst="rect">
            <a:avLst/>
          </a:prstGeom>
          <a:noFill/>
          <a:ln/>
        </p:spPr>
        <p:txBody>
          <a:bodyPr wrap="square" lIns="0" tIns="0" rIns="0" bIns="0" rtlCol="0" anchor="t"/>
          <a:lstStyle/>
          <a:p>
            <a:pPr algn="l" indent="0" marL="0">
              <a:lnSpc>
                <a:spcPts val="6390"/>
              </a:lnSpc>
              <a:buNone/>
            </a:pPr>
            <a:r>
              <a:rPr lang="en-US" sz="6200" b="1" dirty="0">
                <a:solidFill>
                  <a:srgbClr val="EEF2F6"/>
                </a:solidFill>
                <a:latin typeface="Arial" pitchFamily="34" charset="0"/>
                <a:ea typeface="Arial" pitchFamily="34" charset="-122"/>
                <a:cs typeface="Arial" pitchFamily="34" charset="-120"/>
              </a:rPr>
              <a:t>Break a rollercoaster. Crack a vault. Build an app.</a:t>
            </a:r>
            <a:endParaRPr lang="en-US" sz="6200" dirty="0"/>
          </a:p>
        </p:txBody>
      </p:sp>
      <p:sp>
        <p:nvSpPr>
          <p:cNvPr id="3" name="Text 1"/>
          <p:cNvSpPr/>
          <p:nvPr/>
        </p:nvSpPr>
        <p:spPr>
          <a:xfrm>
            <a:off x="812780" y="3725571"/>
            <a:ext cx="9200920" cy="711182"/>
          </a:xfrm>
          <a:prstGeom prst="rect">
            <a:avLst/>
          </a:prstGeom>
          <a:noFill/>
          <a:ln/>
        </p:spPr>
        <p:txBody>
          <a:bodyPr wrap="square" lIns="0" tIns="0" rIns="0" bIns="0" rtlCol="0" anchor="t"/>
          <a:lstStyle/>
          <a:p>
            <a:pPr algn="l" indent="0" marL="0">
              <a:lnSpc>
                <a:spcPts val="2800"/>
              </a:lnSpc>
              <a:buNone/>
            </a:pPr>
            <a:r>
              <a:rPr lang="en-US" sz="2000" dirty="0">
                <a:solidFill>
                  <a:srgbClr val="B7C4D1"/>
                </a:solidFill>
                <a:latin typeface="Arial" pitchFamily="34" charset="0"/>
                <a:ea typeface="Arial" pitchFamily="34" charset="-122"/>
                <a:cs typeface="Arial" pitchFamily="34" charset="-120"/>
              </a:rPr>
              <a:t>No coding experience needed. Nobody will be tested. You keep everything you make.</a:t>
            </a:r>
            <a:endParaRPr lang="en-US" sz="2000" dirty="0"/>
          </a:p>
        </p:txBody>
      </p:sp>
      <p:sp>
        <p:nvSpPr>
          <p:cNvPr id="4" name="Text 2"/>
          <p:cNvSpPr/>
          <p:nvPr/>
        </p:nvSpPr>
        <p:spPr>
          <a:xfrm>
            <a:off x="812780" y="6273643"/>
            <a:ext cx="1107000" cy="177796"/>
          </a:xfrm>
          <a:prstGeom prst="rect">
            <a:avLst/>
          </a:prstGeom>
          <a:noFill/>
          <a:ln/>
        </p:spPr>
        <p:txBody>
          <a:bodyPr wrap="square" lIns="0" tIns="0" rIns="0" bIns="0" rtlCol="0" anchor="t"/>
          <a:lstStyle/>
          <a:p>
            <a:pPr algn="l" indent="0" marL="0">
              <a:lnSpc>
                <a:spcPts val="1560"/>
              </a:lnSpc>
              <a:buNone/>
            </a:pPr>
            <a:r>
              <a:rPr lang="en-US" sz="1200" dirty="0">
                <a:solidFill>
                  <a:srgbClr val="8FA3B5"/>
                </a:solidFill>
                <a:latin typeface="Arial" pitchFamily="34" charset="0"/>
                <a:ea typeface="Arial" pitchFamily="34" charset="-122"/>
                <a:cs typeface="Arial" pitchFamily="34" charset="-120"/>
              </a:rPr>
              <a:t>Pivot into Tech</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3CC7BD"/>
                </a:solidFill>
                <a:latin typeface="Arial" pitchFamily="34" charset="0"/>
                <a:ea typeface="Arial" pitchFamily="34" charset="-122"/>
                <a:cs typeface="Arial" pitchFamily="34" charset="-120"/>
              </a:rPr>
              <a:t>TODAY</a:t>
            </a:r>
            <a:endParaRPr lang="en-US" sz="1400" dirty="0"/>
          </a:p>
        </p:txBody>
      </p:sp>
      <p:sp>
        <p:nvSpPr>
          <p:cNvPr id="3" name="Text 1"/>
          <p:cNvSpPr/>
          <p:nvPr/>
        </p:nvSpPr>
        <p:spPr>
          <a:xfrm>
            <a:off x="812780" y="1320767"/>
            <a:ext cx="11834072" cy="533387"/>
          </a:xfrm>
          <a:prstGeom prst="rect">
            <a:avLst/>
          </a:prstGeom>
          <a:noFill/>
          <a:ln/>
        </p:spPr>
        <p:txBody>
          <a:bodyPr wrap="none" lIns="0" tIns="0" rIns="0" bIns="0" rtlCol="0" anchor="t"/>
          <a:lstStyle/>
          <a:p>
            <a:pPr algn="l" indent="0" marL="0">
              <a:lnSpc>
                <a:spcPts val="4200"/>
              </a:lnSpc>
              <a:buNone/>
            </a:pPr>
            <a:r>
              <a:rPr lang="en-US" sz="4000" b="1" dirty="0">
                <a:solidFill>
                  <a:srgbClr val="EEF2F6"/>
                </a:solidFill>
                <a:latin typeface="Arial" pitchFamily="34" charset="0"/>
                <a:ea typeface="Arial" pitchFamily="34" charset="-122"/>
                <a:cs typeface="Arial" pitchFamily="34" charset="-120"/>
              </a:rPr>
              <a:t>Four parts. You drive the last one.</a:t>
            </a:r>
            <a:endParaRPr lang="en-US" sz="4000" dirty="0"/>
          </a:p>
        </p:txBody>
      </p:sp>
      <p:sp>
        <p:nvSpPr>
          <p:cNvPr id="4" name="Shape 2"/>
          <p:cNvSpPr/>
          <p:nvPr/>
        </p:nvSpPr>
        <p:spPr>
          <a:xfrm>
            <a:off x="812780" y="2158946"/>
            <a:ext cx="2527237" cy="2255384"/>
          </a:xfrm>
          <a:prstGeom prst="roundRect">
            <a:avLst>
              <a:gd name="adj" fmla="val 5631"/>
            </a:avLst>
          </a:prstGeom>
          <a:solidFill>
            <a:srgbClr val="16222D"/>
          </a:solidFill>
          <a:ln w="6350">
            <a:solidFill>
              <a:srgbClr val="26384A"/>
            </a:solidFill>
            <a:prstDash val="solid"/>
          </a:ln>
        </p:spPr>
      </p:sp>
      <p:sp>
        <p:nvSpPr>
          <p:cNvPr id="5" name="Text 3"/>
          <p:cNvSpPr/>
          <p:nvPr/>
        </p:nvSpPr>
        <p:spPr>
          <a:xfrm>
            <a:off x="1022324" y="2368491"/>
            <a:ext cx="2361125" cy="196845"/>
          </a:xfrm>
          <a:prstGeom prst="rect">
            <a:avLst/>
          </a:prstGeom>
          <a:noFill/>
          <a:ln/>
        </p:spPr>
        <p:txBody>
          <a:bodyPr wrap="none" lIns="0" tIns="0" rIns="0" bIns="0" rtlCol="0" anchor="t"/>
          <a:lstStyle/>
          <a:p>
            <a:pPr algn="l" indent="0" marL="0">
              <a:lnSpc>
                <a:spcPts val="1820"/>
              </a:lnSpc>
              <a:buNone/>
            </a:pPr>
            <a:r>
              <a:rPr lang="en-US" sz="1400" b="1" dirty="0">
                <a:solidFill>
                  <a:srgbClr val="3CC7BD"/>
                </a:solidFill>
                <a:latin typeface="Consolas" pitchFamily="34" charset="0"/>
                <a:ea typeface="Consolas" pitchFamily="34" charset="-122"/>
                <a:cs typeface="Consolas" pitchFamily="34" charset="-120"/>
              </a:rPr>
              <a:t>00:00</a:t>
            </a:r>
            <a:endParaRPr lang="en-US" sz="1400" dirty="0"/>
          </a:p>
        </p:txBody>
      </p:sp>
      <p:sp>
        <p:nvSpPr>
          <p:cNvPr id="6" name="Text 4"/>
          <p:cNvSpPr/>
          <p:nvPr/>
        </p:nvSpPr>
        <p:spPr>
          <a:xfrm>
            <a:off x="1022324" y="2654234"/>
            <a:ext cx="2361125" cy="321262"/>
          </a:xfrm>
          <a:prstGeom prst="rect">
            <a:avLst/>
          </a:prstGeom>
          <a:noFill/>
          <a:ln/>
        </p:spPr>
        <p:txBody>
          <a:bodyPr wrap="non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MindForge</a:t>
            </a:r>
            <a:endParaRPr lang="en-US" sz="2200" dirty="0"/>
          </a:p>
        </p:txBody>
      </p:sp>
      <p:sp>
        <p:nvSpPr>
          <p:cNvPr id="7" name="Text 5"/>
          <p:cNvSpPr/>
          <p:nvPr/>
        </p:nvSpPr>
        <p:spPr>
          <a:xfrm>
            <a:off x="1022324" y="3064394"/>
            <a:ext cx="2181932"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Brain teasers to get going</a:t>
            </a:r>
            <a:endParaRPr lang="en-US" sz="1500" dirty="0"/>
          </a:p>
        </p:txBody>
      </p:sp>
      <p:sp>
        <p:nvSpPr>
          <p:cNvPr id="8" name="Text 6"/>
          <p:cNvSpPr/>
          <p:nvPr/>
        </p:nvSpPr>
        <p:spPr>
          <a:xfrm>
            <a:off x="1022324" y="3686678"/>
            <a:ext cx="2361125" cy="196845"/>
          </a:xfrm>
          <a:prstGeom prst="rect">
            <a:avLst/>
          </a:prstGeom>
          <a:noFill/>
          <a:ln/>
        </p:spPr>
        <p:txBody>
          <a:bodyPr wrap="none" lIns="0" tIns="0" rIns="0" bIns="0" rtlCol="0" anchor="t"/>
          <a:lstStyle/>
          <a:p>
            <a:pPr algn="l" indent="0" marL="0">
              <a:lnSpc>
                <a:spcPts val="1690"/>
              </a:lnSpc>
              <a:buNone/>
            </a:pPr>
            <a:r>
              <a:rPr lang="en-US" sz="1300" b="1" spc="100" kern="0" dirty="0">
                <a:solidFill>
                  <a:srgbClr val="3CC7BD"/>
                </a:solidFill>
                <a:latin typeface="Arial" pitchFamily="34" charset="0"/>
                <a:ea typeface="Arial" pitchFamily="34" charset="-122"/>
                <a:cs typeface="Arial" pitchFamily="34" charset="-120"/>
              </a:rPr>
              <a:t>OWN PACE</a:t>
            </a:r>
            <a:endParaRPr lang="en-US" sz="1300" dirty="0"/>
          </a:p>
        </p:txBody>
      </p:sp>
      <p:sp>
        <p:nvSpPr>
          <p:cNvPr id="9" name="Shape 7"/>
          <p:cNvSpPr/>
          <p:nvPr/>
        </p:nvSpPr>
        <p:spPr>
          <a:xfrm>
            <a:off x="3492413" y="2158946"/>
            <a:ext cx="2527237" cy="2255384"/>
          </a:xfrm>
          <a:prstGeom prst="roundRect">
            <a:avLst>
              <a:gd name="adj" fmla="val 5631"/>
            </a:avLst>
          </a:prstGeom>
          <a:solidFill>
            <a:srgbClr val="16222D"/>
          </a:solidFill>
          <a:ln w="6350">
            <a:solidFill>
              <a:srgbClr val="26384A"/>
            </a:solidFill>
            <a:prstDash val="solid"/>
          </a:ln>
        </p:spPr>
      </p:sp>
      <p:sp>
        <p:nvSpPr>
          <p:cNvPr id="10" name="Text 8"/>
          <p:cNvSpPr/>
          <p:nvPr/>
        </p:nvSpPr>
        <p:spPr>
          <a:xfrm>
            <a:off x="3701957" y="2368491"/>
            <a:ext cx="2361125" cy="196845"/>
          </a:xfrm>
          <a:prstGeom prst="rect">
            <a:avLst/>
          </a:prstGeom>
          <a:noFill/>
          <a:ln/>
        </p:spPr>
        <p:txBody>
          <a:bodyPr wrap="none" lIns="0" tIns="0" rIns="0" bIns="0" rtlCol="0" anchor="t"/>
          <a:lstStyle/>
          <a:p>
            <a:pPr algn="l" indent="0" marL="0">
              <a:lnSpc>
                <a:spcPts val="1820"/>
              </a:lnSpc>
              <a:buNone/>
            </a:pPr>
            <a:r>
              <a:rPr lang="en-US" sz="1400" b="1" dirty="0">
                <a:solidFill>
                  <a:srgbClr val="8F9DFF"/>
                </a:solidFill>
                <a:latin typeface="Consolas" pitchFamily="34" charset="0"/>
                <a:ea typeface="Consolas" pitchFamily="34" charset="-122"/>
                <a:cs typeface="Consolas" pitchFamily="34" charset="-120"/>
              </a:rPr>
              <a:t>00:11</a:t>
            </a:r>
            <a:endParaRPr lang="en-US" sz="1400" dirty="0"/>
          </a:p>
        </p:txBody>
      </p:sp>
      <p:sp>
        <p:nvSpPr>
          <p:cNvPr id="11" name="Text 9"/>
          <p:cNvSpPr/>
          <p:nvPr/>
        </p:nvSpPr>
        <p:spPr>
          <a:xfrm>
            <a:off x="3701957" y="2654234"/>
            <a:ext cx="2361125" cy="321262"/>
          </a:xfrm>
          <a:prstGeom prst="rect">
            <a:avLst/>
          </a:prstGeom>
          <a:noFill/>
          <a:ln/>
        </p:spPr>
        <p:txBody>
          <a:bodyPr wrap="non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LoomSTEM</a:t>
            </a:r>
            <a:endParaRPr lang="en-US" sz="2200" dirty="0"/>
          </a:p>
        </p:txBody>
      </p:sp>
      <p:sp>
        <p:nvSpPr>
          <p:cNvPr id="12" name="Text 10"/>
          <p:cNvSpPr/>
          <p:nvPr/>
        </p:nvSpPr>
        <p:spPr>
          <a:xfrm>
            <a:off x="3701957" y="3064394"/>
            <a:ext cx="2181932"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Build with blocks, together</a:t>
            </a:r>
            <a:endParaRPr lang="en-US" sz="1500" dirty="0"/>
          </a:p>
        </p:txBody>
      </p:sp>
      <p:sp>
        <p:nvSpPr>
          <p:cNvPr id="13" name="Text 11"/>
          <p:cNvSpPr/>
          <p:nvPr/>
        </p:nvSpPr>
        <p:spPr>
          <a:xfrm>
            <a:off x="3701957" y="3686678"/>
            <a:ext cx="2361125" cy="196845"/>
          </a:xfrm>
          <a:prstGeom prst="rect">
            <a:avLst/>
          </a:prstGeom>
          <a:noFill/>
          <a:ln/>
        </p:spPr>
        <p:txBody>
          <a:bodyPr wrap="none" lIns="0" tIns="0" rIns="0" bIns="0" rtlCol="0" anchor="t"/>
          <a:lstStyle/>
          <a:p>
            <a:pPr algn="l" indent="0" marL="0">
              <a:lnSpc>
                <a:spcPts val="1690"/>
              </a:lnSpc>
              <a:buNone/>
            </a:pPr>
            <a:r>
              <a:rPr lang="en-US" sz="1300" b="1" spc="100" kern="0" dirty="0">
                <a:solidFill>
                  <a:srgbClr val="8F9DFF"/>
                </a:solidFill>
                <a:latin typeface="Arial" pitchFamily="34" charset="0"/>
                <a:ea typeface="Arial" pitchFamily="34" charset="-122"/>
                <a:cs typeface="Arial" pitchFamily="34" charset="-120"/>
              </a:rPr>
              <a:t>TOGETHER</a:t>
            </a:r>
            <a:endParaRPr lang="en-US" sz="1300" dirty="0"/>
          </a:p>
        </p:txBody>
      </p:sp>
      <p:sp>
        <p:nvSpPr>
          <p:cNvPr id="14" name="Shape 12"/>
          <p:cNvSpPr/>
          <p:nvPr/>
        </p:nvSpPr>
        <p:spPr>
          <a:xfrm>
            <a:off x="6172046" y="2158946"/>
            <a:ext cx="2527237" cy="2255384"/>
          </a:xfrm>
          <a:prstGeom prst="roundRect">
            <a:avLst>
              <a:gd name="adj" fmla="val 5631"/>
            </a:avLst>
          </a:prstGeom>
          <a:solidFill>
            <a:srgbClr val="16222D"/>
          </a:solidFill>
          <a:ln w="6350">
            <a:solidFill>
              <a:srgbClr val="26384A"/>
            </a:solidFill>
            <a:prstDash val="solid"/>
          </a:ln>
        </p:spPr>
      </p:sp>
      <p:sp>
        <p:nvSpPr>
          <p:cNvPr id="15" name="Text 13"/>
          <p:cNvSpPr/>
          <p:nvPr/>
        </p:nvSpPr>
        <p:spPr>
          <a:xfrm>
            <a:off x="6381590" y="2368491"/>
            <a:ext cx="2361125" cy="196845"/>
          </a:xfrm>
          <a:prstGeom prst="rect">
            <a:avLst/>
          </a:prstGeom>
          <a:noFill/>
          <a:ln/>
        </p:spPr>
        <p:txBody>
          <a:bodyPr wrap="none" lIns="0" tIns="0" rIns="0" bIns="0" rtlCol="0" anchor="t"/>
          <a:lstStyle/>
          <a:p>
            <a:pPr algn="l" indent="0" marL="0">
              <a:lnSpc>
                <a:spcPts val="1820"/>
              </a:lnSpc>
              <a:buNone/>
            </a:pPr>
            <a:r>
              <a:rPr lang="en-US" sz="1400" b="1" dirty="0">
                <a:solidFill>
                  <a:srgbClr val="8F9DFF"/>
                </a:solidFill>
                <a:latin typeface="Consolas" pitchFamily="34" charset="0"/>
                <a:ea typeface="Consolas" pitchFamily="34" charset="-122"/>
                <a:cs typeface="Consolas" pitchFamily="34" charset="-120"/>
              </a:rPr>
              <a:t>00:35</a:t>
            </a:r>
            <a:endParaRPr lang="en-US" sz="1400" dirty="0"/>
          </a:p>
        </p:txBody>
      </p:sp>
      <p:sp>
        <p:nvSpPr>
          <p:cNvPr id="16" name="Text 14"/>
          <p:cNvSpPr/>
          <p:nvPr/>
        </p:nvSpPr>
        <p:spPr>
          <a:xfrm>
            <a:off x="6381590" y="2654234"/>
            <a:ext cx="2361125" cy="321262"/>
          </a:xfrm>
          <a:prstGeom prst="rect">
            <a:avLst/>
          </a:prstGeom>
          <a:noFill/>
          <a:ln/>
        </p:spPr>
        <p:txBody>
          <a:bodyPr wrap="non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The Vault</a:t>
            </a:r>
            <a:endParaRPr lang="en-US" sz="2200" dirty="0"/>
          </a:p>
        </p:txBody>
      </p:sp>
      <p:sp>
        <p:nvSpPr>
          <p:cNvPr id="17" name="Text 15"/>
          <p:cNvSpPr/>
          <p:nvPr/>
        </p:nvSpPr>
        <p:spPr>
          <a:xfrm>
            <a:off x="6381590" y="3064394"/>
            <a:ext cx="2181932"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A heist you code your way out of</a:t>
            </a:r>
            <a:endParaRPr lang="en-US" sz="1500" dirty="0"/>
          </a:p>
        </p:txBody>
      </p:sp>
      <p:sp>
        <p:nvSpPr>
          <p:cNvPr id="18" name="Text 16"/>
          <p:cNvSpPr/>
          <p:nvPr/>
        </p:nvSpPr>
        <p:spPr>
          <a:xfrm>
            <a:off x="6381590" y="3686678"/>
            <a:ext cx="2361125" cy="196845"/>
          </a:xfrm>
          <a:prstGeom prst="rect">
            <a:avLst/>
          </a:prstGeom>
          <a:noFill/>
          <a:ln/>
        </p:spPr>
        <p:txBody>
          <a:bodyPr wrap="none" lIns="0" tIns="0" rIns="0" bIns="0" rtlCol="0" anchor="t"/>
          <a:lstStyle/>
          <a:p>
            <a:pPr algn="l" indent="0" marL="0">
              <a:lnSpc>
                <a:spcPts val="1690"/>
              </a:lnSpc>
              <a:buNone/>
            </a:pPr>
            <a:r>
              <a:rPr lang="en-US" sz="1300" b="1" spc="100" kern="0" dirty="0">
                <a:solidFill>
                  <a:srgbClr val="8F9DFF"/>
                </a:solidFill>
                <a:latin typeface="Arial" pitchFamily="34" charset="0"/>
                <a:ea typeface="Arial" pitchFamily="34" charset="-122"/>
                <a:cs typeface="Arial" pitchFamily="34" charset="-120"/>
              </a:rPr>
              <a:t>TOGETHER</a:t>
            </a:r>
            <a:endParaRPr lang="en-US" sz="1300" dirty="0"/>
          </a:p>
        </p:txBody>
      </p:sp>
      <p:sp>
        <p:nvSpPr>
          <p:cNvPr id="19" name="Shape 17"/>
          <p:cNvSpPr/>
          <p:nvPr/>
        </p:nvSpPr>
        <p:spPr>
          <a:xfrm>
            <a:off x="8851679" y="2158946"/>
            <a:ext cx="2527237" cy="2255384"/>
          </a:xfrm>
          <a:prstGeom prst="roundRect">
            <a:avLst>
              <a:gd name="adj" fmla="val 5631"/>
            </a:avLst>
          </a:prstGeom>
          <a:solidFill>
            <a:srgbClr val="16222D"/>
          </a:solidFill>
          <a:ln w="6350">
            <a:solidFill>
              <a:srgbClr val="26384A"/>
            </a:solidFill>
            <a:prstDash val="solid"/>
          </a:ln>
        </p:spPr>
      </p:sp>
      <p:sp>
        <p:nvSpPr>
          <p:cNvPr id="20" name="Text 18"/>
          <p:cNvSpPr/>
          <p:nvPr/>
        </p:nvSpPr>
        <p:spPr>
          <a:xfrm>
            <a:off x="9061223" y="2368491"/>
            <a:ext cx="2361125" cy="196845"/>
          </a:xfrm>
          <a:prstGeom prst="rect">
            <a:avLst/>
          </a:prstGeom>
          <a:noFill/>
          <a:ln/>
        </p:spPr>
        <p:txBody>
          <a:bodyPr wrap="none" lIns="0" tIns="0" rIns="0" bIns="0" rtlCol="0" anchor="t"/>
          <a:lstStyle/>
          <a:p>
            <a:pPr algn="l" indent="0" marL="0">
              <a:lnSpc>
                <a:spcPts val="1820"/>
              </a:lnSpc>
              <a:buNone/>
            </a:pPr>
            <a:r>
              <a:rPr lang="en-US" sz="1400" b="1" dirty="0">
                <a:solidFill>
                  <a:srgbClr val="3CC7BD"/>
                </a:solidFill>
                <a:latin typeface="Consolas" pitchFamily="34" charset="0"/>
                <a:ea typeface="Consolas" pitchFamily="34" charset="-122"/>
                <a:cs typeface="Consolas" pitchFamily="34" charset="-120"/>
              </a:rPr>
              <a:t>01:09</a:t>
            </a:r>
            <a:endParaRPr lang="en-US" sz="1400" dirty="0"/>
          </a:p>
        </p:txBody>
      </p:sp>
      <p:sp>
        <p:nvSpPr>
          <p:cNvPr id="21" name="Text 19"/>
          <p:cNvSpPr/>
          <p:nvPr/>
        </p:nvSpPr>
        <p:spPr>
          <a:xfrm>
            <a:off x="9061223" y="2654234"/>
            <a:ext cx="2181932" cy="642525"/>
          </a:xfrm>
          <a:prstGeom prst="rect">
            <a:avLst/>
          </a:prstGeom>
          <a:noFill/>
          <a:ln/>
        </p:spPr>
        <p:txBody>
          <a:bodyPr wrap="squar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Compound Click</a:t>
            </a:r>
            <a:endParaRPr lang="en-US" sz="2200" dirty="0"/>
          </a:p>
        </p:txBody>
      </p:sp>
      <p:sp>
        <p:nvSpPr>
          <p:cNvPr id="22" name="Text 20"/>
          <p:cNvSpPr/>
          <p:nvPr/>
        </p:nvSpPr>
        <p:spPr>
          <a:xfrm>
            <a:off x="9061223" y="3385656"/>
            <a:ext cx="2181932"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Build your own small app</a:t>
            </a:r>
            <a:endParaRPr lang="en-US" sz="1500" dirty="0"/>
          </a:p>
        </p:txBody>
      </p:sp>
      <p:sp>
        <p:nvSpPr>
          <p:cNvPr id="23" name="Text 21"/>
          <p:cNvSpPr/>
          <p:nvPr/>
        </p:nvSpPr>
        <p:spPr>
          <a:xfrm>
            <a:off x="9061223" y="4007940"/>
            <a:ext cx="2361125" cy="196845"/>
          </a:xfrm>
          <a:prstGeom prst="rect">
            <a:avLst/>
          </a:prstGeom>
          <a:noFill/>
          <a:ln/>
        </p:spPr>
        <p:txBody>
          <a:bodyPr wrap="none" lIns="0" tIns="0" rIns="0" bIns="0" rtlCol="0" anchor="t"/>
          <a:lstStyle/>
          <a:p>
            <a:pPr algn="l" indent="0" marL="0">
              <a:lnSpc>
                <a:spcPts val="1690"/>
              </a:lnSpc>
              <a:buNone/>
            </a:pPr>
            <a:r>
              <a:rPr lang="en-US" sz="1300" b="1" spc="100" kern="0" dirty="0">
                <a:solidFill>
                  <a:srgbClr val="3CC7BD"/>
                </a:solidFill>
                <a:latin typeface="Arial" pitchFamily="34" charset="0"/>
                <a:ea typeface="Arial" pitchFamily="34" charset="-122"/>
                <a:cs typeface="Arial" pitchFamily="34" charset="-120"/>
              </a:rPr>
              <a:t>OWN PACE</a:t>
            </a:r>
            <a:endParaRPr lang="en-US" sz="1300" dirty="0"/>
          </a:p>
        </p:txBody>
      </p:sp>
      <p:sp>
        <p:nvSpPr>
          <p:cNvPr id="24" name="Text 22"/>
          <p:cNvSpPr/>
          <p:nvPr/>
        </p:nvSpPr>
        <p:spPr>
          <a:xfrm>
            <a:off x="812780" y="6273643"/>
            <a:ext cx="3380338"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Times shown for the 90-minute Core session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3CC7BD"/>
                </a:solidFill>
                <a:latin typeface="Arial" pitchFamily="34" charset="0"/>
                <a:ea typeface="Arial" pitchFamily="34" charset="-122"/>
                <a:cs typeface="Arial" pitchFamily="34" charset="-120"/>
              </a:rPr>
              <a:t>GROUND RULES</a:t>
            </a:r>
            <a:endParaRPr lang="en-US" sz="1400" dirty="0"/>
          </a:p>
        </p:txBody>
      </p:sp>
      <p:sp>
        <p:nvSpPr>
          <p:cNvPr id="3" name="Text 1"/>
          <p:cNvSpPr/>
          <p:nvPr/>
        </p:nvSpPr>
        <p:spPr>
          <a:xfrm>
            <a:off x="812780" y="1320767"/>
            <a:ext cx="11834072" cy="533387"/>
          </a:xfrm>
          <a:prstGeom prst="rect">
            <a:avLst/>
          </a:prstGeom>
          <a:noFill/>
          <a:ln/>
        </p:spPr>
        <p:txBody>
          <a:bodyPr wrap="none" lIns="0" tIns="0" rIns="0" bIns="0" rtlCol="0" anchor="t"/>
          <a:lstStyle/>
          <a:p>
            <a:pPr algn="l" indent="0" marL="0">
              <a:lnSpc>
                <a:spcPts val="4200"/>
              </a:lnSpc>
              <a:buNone/>
            </a:pPr>
            <a:r>
              <a:rPr lang="en-US" sz="4000" b="1" dirty="0">
                <a:solidFill>
                  <a:srgbClr val="EEF2F6"/>
                </a:solidFill>
                <a:latin typeface="Arial" pitchFamily="34" charset="0"/>
                <a:ea typeface="Arial" pitchFamily="34" charset="-122"/>
                <a:cs typeface="Arial" pitchFamily="34" charset="-120"/>
              </a:rPr>
              <a:t>Three rules for today</a:t>
            </a:r>
            <a:endParaRPr lang="en-US" sz="4000" dirty="0"/>
          </a:p>
        </p:txBody>
      </p:sp>
      <p:sp>
        <p:nvSpPr>
          <p:cNvPr id="4" name="Shape 2"/>
          <p:cNvSpPr/>
          <p:nvPr/>
        </p:nvSpPr>
        <p:spPr>
          <a:xfrm>
            <a:off x="812780" y="2158946"/>
            <a:ext cx="3386549" cy="2217285"/>
          </a:xfrm>
          <a:prstGeom prst="roundRect">
            <a:avLst>
              <a:gd name="adj" fmla="val 5728"/>
            </a:avLst>
          </a:prstGeom>
          <a:solidFill>
            <a:srgbClr val="16222D"/>
          </a:solidFill>
          <a:ln w="6350">
            <a:solidFill>
              <a:srgbClr val="26384A"/>
            </a:solidFill>
            <a:prstDash val="solid"/>
          </a:ln>
        </p:spPr>
      </p:sp>
      <p:sp>
        <p:nvSpPr>
          <p:cNvPr id="5" name="Text 3"/>
          <p:cNvSpPr/>
          <p:nvPr/>
        </p:nvSpPr>
        <p:spPr>
          <a:xfrm>
            <a:off x="1073123" y="2419290"/>
            <a:ext cx="3209765" cy="609585"/>
          </a:xfrm>
          <a:prstGeom prst="rect">
            <a:avLst/>
          </a:prstGeom>
          <a:noFill/>
          <a:ln/>
        </p:spPr>
        <p:txBody>
          <a:bodyPr wrap="none" lIns="0" tIns="0" rIns="0" bIns="0" rtlCol="0" anchor="t"/>
          <a:lstStyle/>
          <a:p>
            <a:pPr algn="l" indent="0" marL="0">
              <a:lnSpc>
                <a:spcPts val="4800"/>
              </a:lnSpc>
              <a:buNone/>
            </a:pPr>
            <a:r>
              <a:rPr lang="en-US" sz="4800" b="1" dirty="0">
                <a:solidFill>
                  <a:srgbClr val="3CC7BD"/>
                </a:solidFill>
                <a:latin typeface="Arial" pitchFamily="34" charset="0"/>
                <a:ea typeface="Arial" pitchFamily="34" charset="-122"/>
                <a:cs typeface="Arial" pitchFamily="34" charset="-120"/>
              </a:rPr>
              <a:t>1</a:t>
            </a:r>
            <a:endParaRPr lang="en-US" sz="4800" dirty="0"/>
          </a:p>
        </p:txBody>
      </p:sp>
      <p:sp>
        <p:nvSpPr>
          <p:cNvPr id="6" name="Text 4"/>
          <p:cNvSpPr/>
          <p:nvPr/>
        </p:nvSpPr>
        <p:spPr>
          <a:xfrm>
            <a:off x="1073123" y="3117772"/>
            <a:ext cx="3209765" cy="321262"/>
          </a:xfrm>
          <a:prstGeom prst="rect">
            <a:avLst/>
          </a:prstGeom>
          <a:noFill/>
          <a:ln/>
        </p:spPr>
        <p:txBody>
          <a:bodyPr wrap="non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It is fine to stop early</a:t>
            </a:r>
            <a:endParaRPr lang="en-US" sz="2200" dirty="0"/>
          </a:p>
        </p:txBody>
      </p:sp>
      <p:sp>
        <p:nvSpPr>
          <p:cNvPr id="7" name="Text 5"/>
          <p:cNvSpPr/>
          <p:nvPr/>
        </p:nvSpPr>
        <p:spPr>
          <a:xfrm>
            <a:off x="1073123" y="3527932"/>
            <a:ext cx="2966167"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Even one working click is real software.</a:t>
            </a:r>
            <a:endParaRPr lang="en-US" sz="1500" dirty="0"/>
          </a:p>
        </p:txBody>
      </p:sp>
      <p:sp>
        <p:nvSpPr>
          <p:cNvPr id="8" name="Shape 6"/>
          <p:cNvSpPr/>
          <p:nvPr/>
        </p:nvSpPr>
        <p:spPr>
          <a:xfrm>
            <a:off x="4402524" y="2158946"/>
            <a:ext cx="3386549" cy="2217285"/>
          </a:xfrm>
          <a:prstGeom prst="roundRect">
            <a:avLst>
              <a:gd name="adj" fmla="val 5728"/>
            </a:avLst>
          </a:prstGeom>
          <a:solidFill>
            <a:srgbClr val="16222D"/>
          </a:solidFill>
          <a:ln w="6350">
            <a:solidFill>
              <a:srgbClr val="26384A"/>
            </a:solidFill>
            <a:prstDash val="solid"/>
          </a:ln>
        </p:spPr>
      </p:sp>
      <p:sp>
        <p:nvSpPr>
          <p:cNvPr id="9" name="Text 7"/>
          <p:cNvSpPr/>
          <p:nvPr/>
        </p:nvSpPr>
        <p:spPr>
          <a:xfrm>
            <a:off x="4662867" y="2419290"/>
            <a:ext cx="3209765" cy="609585"/>
          </a:xfrm>
          <a:prstGeom prst="rect">
            <a:avLst/>
          </a:prstGeom>
          <a:noFill/>
          <a:ln/>
        </p:spPr>
        <p:txBody>
          <a:bodyPr wrap="none" lIns="0" tIns="0" rIns="0" bIns="0" rtlCol="0" anchor="t"/>
          <a:lstStyle/>
          <a:p>
            <a:pPr algn="l" indent="0" marL="0">
              <a:lnSpc>
                <a:spcPts val="4800"/>
              </a:lnSpc>
              <a:buNone/>
            </a:pPr>
            <a:r>
              <a:rPr lang="en-US" sz="4800" b="1" dirty="0">
                <a:solidFill>
                  <a:srgbClr val="3CC7BD"/>
                </a:solidFill>
                <a:latin typeface="Arial" pitchFamily="34" charset="0"/>
                <a:ea typeface="Arial" pitchFamily="34" charset="-122"/>
                <a:cs typeface="Arial" pitchFamily="34" charset="-120"/>
              </a:rPr>
              <a:t>2</a:t>
            </a:r>
            <a:endParaRPr lang="en-US" sz="4800" dirty="0"/>
          </a:p>
        </p:txBody>
      </p:sp>
      <p:sp>
        <p:nvSpPr>
          <p:cNvPr id="10" name="Text 8"/>
          <p:cNvSpPr/>
          <p:nvPr/>
        </p:nvSpPr>
        <p:spPr>
          <a:xfrm>
            <a:off x="4662867" y="3117772"/>
            <a:ext cx="3209765" cy="321262"/>
          </a:xfrm>
          <a:prstGeom prst="rect">
            <a:avLst/>
          </a:prstGeom>
          <a:noFill/>
          <a:ln/>
        </p:spPr>
        <p:txBody>
          <a:bodyPr wrap="non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Ask a helper</a:t>
            </a:r>
            <a:endParaRPr lang="en-US" sz="2200" dirty="0"/>
          </a:p>
        </p:txBody>
      </p:sp>
      <p:sp>
        <p:nvSpPr>
          <p:cNvPr id="11" name="Text 9"/>
          <p:cNvSpPr/>
          <p:nvPr/>
        </p:nvSpPr>
        <p:spPr>
          <a:xfrm>
            <a:off x="4662867" y="3527932"/>
            <a:ext cx="2966167"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Helpers point. You keep the mouse.</a:t>
            </a:r>
            <a:endParaRPr lang="en-US" sz="1500" dirty="0"/>
          </a:p>
        </p:txBody>
      </p:sp>
      <p:sp>
        <p:nvSpPr>
          <p:cNvPr id="12" name="Shape 10"/>
          <p:cNvSpPr/>
          <p:nvPr/>
        </p:nvSpPr>
        <p:spPr>
          <a:xfrm>
            <a:off x="7992267" y="2158946"/>
            <a:ext cx="3386549" cy="2217285"/>
          </a:xfrm>
          <a:prstGeom prst="roundRect">
            <a:avLst>
              <a:gd name="adj" fmla="val 5728"/>
            </a:avLst>
          </a:prstGeom>
          <a:solidFill>
            <a:srgbClr val="16222D"/>
          </a:solidFill>
          <a:ln w="6350">
            <a:solidFill>
              <a:srgbClr val="26384A"/>
            </a:solidFill>
            <a:prstDash val="solid"/>
          </a:ln>
        </p:spPr>
      </p:sp>
      <p:sp>
        <p:nvSpPr>
          <p:cNvPr id="13" name="Text 11"/>
          <p:cNvSpPr/>
          <p:nvPr/>
        </p:nvSpPr>
        <p:spPr>
          <a:xfrm>
            <a:off x="8252611" y="2419290"/>
            <a:ext cx="3209765" cy="609585"/>
          </a:xfrm>
          <a:prstGeom prst="rect">
            <a:avLst/>
          </a:prstGeom>
          <a:noFill/>
          <a:ln/>
        </p:spPr>
        <p:txBody>
          <a:bodyPr wrap="none" lIns="0" tIns="0" rIns="0" bIns="0" rtlCol="0" anchor="t"/>
          <a:lstStyle/>
          <a:p>
            <a:pPr algn="l" indent="0" marL="0">
              <a:lnSpc>
                <a:spcPts val="4800"/>
              </a:lnSpc>
              <a:buNone/>
            </a:pPr>
            <a:r>
              <a:rPr lang="en-US" sz="4800" b="1" dirty="0">
                <a:solidFill>
                  <a:srgbClr val="3CC7BD"/>
                </a:solidFill>
                <a:latin typeface="Arial" pitchFamily="34" charset="0"/>
                <a:ea typeface="Arial" pitchFamily="34" charset="-122"/>
                <a:cs typeface="Arial" pitchFamily="34" charset="-120"/>
              </a:rPr>
              <a:t>3</a:t>
            </a:r>
            <a:endParaRPr lang="en-US" sz="4800" dirty="0"/>
          </a:p>
        </p:txBody>
      </p:sp>
      <p:sp>
        <p:nvSpPr>
          <p:cNvPr id="14" name="Text 12"/>
          <p:cNvSpPr/>
          <p:nvPr/>
        </p:nvSpPr>
        <p:spPr>
          <a:xfrm>
            <a:off x="8252611" y="3117772"/>
            <a:ext cx="2966167" cy="642525"/>
          </a:xfrm>
          <a:prstGeom prst="rect">
            <a:avLst/>
          </a:prstGeom>
          <a:noFill/>
          <a:ln/>
        </p:spPr>
        <p:txBody>
          <a:bodyPr wrap="squar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Being lost for a minute is normal</a:t>
            </a:r>
            <a:endParaRPr lang="en-US" sz="2200" dirty="0"/>
          </a:p>
        </p:txBody>
      </p:sp>
      <p:sp>
        <p:nvSpPr>
          <p:cNvPr id="15" name="Text 13"/>
          <p:cNvSpPr/>
          <p:nvPr/>
        </p:nvSpPr>
        <p:spPr>
          <a:xfrm>
            <a:off x="8252611" y="3849194"/>
            <a:ext cx="3209765" cy="266693"/>
          </a:xfrm>
          <a:prstGeom prst="rect">
            <a:avLst/>
          </a:prstGeom>
          <a:noFill/>
          <a:ln/>
        </p:spPr>
        <p:txBody>
          <a:bodyPr wrap="non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Everyone feels it. It passes.</a:t>
            </a:r>
            <a:endParaRPr lang="en-US" sz="1500" dirty="0"/>
          </a:p>
        </p:txBody>
      </p:sp>
      <p:sp>
        <p:nvSpPr>
          <p:cNvPr id="16" name="Text 14"/>
          <p:cNvSpPr/>
          <p:nvPr/>
        </p:nvSpPr>
        <p:spPr>
          <a:xfrm>
            <a:off x="812780" y="6273643"/>
            <a:ext cx="1107000" cy="177796"/>
          </a:xfrm>
          <a:prstGeom prst="rect">
            <a:avLst/>
          </a:prstGeom>
          <a:noFill/>
          <a:ln/>
        </p:spPr>
        <p:txBody>
          <a:bodyPr wrap="squar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Pivot into Tech</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2F6"/>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0A6E69"/>
                </a:solidFill>
                <a:latin typeface="Arial" pitchFamily="34" charset="0"/>
                <a:ea typeface="Arial" pitchFamily="34" charset="-122"/>
                <a:cs typeface="Arial" pitchFamily="34" charset="-120"/>
              </a:rPr>
              <a:t>WHY IT MATTERS</a:t>
            </a:r>
            <a:endParaRPr lang="en-US" sz="1400" dirty="0"/>
          </a:p>
        </p:txBody>
      </p:sp>
      <p:sp>
        <p:nvSpPr>
          <p:cNvPr id="3" name="Text 1"/>
          <p:cNvSpPr/>
          <p:nvPr/>
        </p:nvSpPr>
        <p:spPr>
          <a:xfrm>
            <a:off x="812780" y="1269968"/>
            <a:ext cx="11834072" cy="506697"/>
          </a:xfrm>
          <a:prstGeom prst="rect">
            <a:avLst/>
          </a:prstGeom>
          <a:noFill/>
          <a:ln/>
        </p:spPr>
        <p:txBody>
          <a:bodyPr wrap="none" lIns="0" tIns="0" rIns="0" bIns="0" rtlCol="0" anchor="t"/>
          <a:lstStyle/>
          <a:p>
            <a:pPr algn="l" indent="0" marL="0">
              <a:lnSpc>
                <a:spcPts val="3990"/>
              </a:lnSpc>
              <a:buNone/>
            </a:pPr>
            <a:r>
              <a:rPr lang="en-US" sz="3800" b="1" dirty="0">
                <a:solidFill>
                  <a:srgbClr val="14202B"/>
                </a:solidFill>
                <a:latin typeface="Arial" pitchFamily="34" charset="0"/>
                <a:ea typeface="Arial" pitchFamily="34" charset="-122"/>
                <a:cs typeface="Arial" pitchFamily="34" charset="-120"/>
              </a:rPr>
              <a:t>Banks already employ people who do this</a:t>
            </a:r>
            <a:endParaRPr lang="en-US" sz="3800" dirty="0"/>
          </a:p>
        </p:txBody>
      </p:sp>
      <p:sp>
        <p:nvSpPr>
          <p:cNvPr id="4" name="Text 2"/>
          <p:cNvSpPr/>
          <p:nvPr/>
        </p:nvSpPr>
        <p:spPr>
          <a:xfrm>
            <a:off x="914377" y="2106857"/>
            <a:ext cx="2849174" cy="234944"/>
          </a:xfrm>
          <a:prstGeom prst="rect">
            <a:avLst/>
          </a:prstGeom>
          <a:noFill/>
          <a:ln/>
        </p:spPr>
        <p:txBody>
          <a:bodyPr wrap="none" lIns="0" tIns="0" rIns="0" bIns="0" rtlCol="0" anchor="t"/>
          <a:lstStyle/>
          <a:p>
            <a:pPr algn="l" indent="0" marL="0">
              <a:lnSpc>
                <a:spcPts val="2080"/>
              </a:lnSpc>
              <a:buNone/>
            </a:pPr>
            <a:r>
              <a:rPr lang="en-US" sz="1600" b="1" dirty="0">
                <a:solidFill>
                  <a:srgbClr val="14202B"/>
                </a:solidFill>
                <a:latin typeface="Arial" pitchFamily="34" charset="0"/>
                <a:ea typeface="Arial" pitchFamily="34" charset="-122"/>
                <a:cs typeface="Arial" pitchFamily="34" charset="-120"/>
              </a:rPr>
              <a:t>Role</a:t>
            </a:r>
            <a:endParaRPr lang="en-US" sz="1600" dirty="0"/>
          </a:p>
        </p:txBody>
      </p:sp>
      <p:sp>
        <p:nvSpPr>
          <p:cNvPr id="5" name="Text 3"/>
          <p:cNvSpPr/>
          <p:nvPr/>
        </p:nvSpPr>
        <p:spPr>
          <a:xfrm>
            <a:off x="3661477" y="2106857"/>
            <a:ext cx="4979387" cy="234944"/>
          </a:xfrm>
          <a:prstGeom prst="rect">
            <a:avLst/>
          </a:prstGeom>
          <a:noFill/>
          <a:ln/>
        </p:spPr>
        <p:txBody>
          <a:bodyPr wrap="none" lIns="0" tIns="0" rIns="0" bIns="0" rtlCol="0" anchor="t"/>
          <a:lstStyle/>
          <a:p>
            <a:pPr algn="l" indent="0" marL="0">
              <a:lnSpc>
                <a:spcPts val="2080"/>
              </a:lnSpc>
              <a:buNone/>
            </a:pPr>
            <a:r>
              <a:rPr lang="en-US" sz="1600" b="1" dirty="0">
                <a:solidFill>
                  <a:srgbClr val="14202B"/>
                </a:solidFill>
                <a:latin typeface="Arial" pitchFamily="34" charset="0"/>
                <a:ea typeface="Arial" pitchFamily="34" charset="-122"/>
                <a:cs typeface="Arial" pitchFamily="34" charset="-120"/>
              </a:rPr>
              <a:t>What they do</a:t>
            </a:r>
            <a:endParaRPr lang="en-US" sz="1600" dirty="0"/>
          </a:p>
        </p:txBody>
      </p:sp>
      <p:sp>
        <p:nvSpPr>
          <p:cNvPr id="6" name="Text 4"/>
          <p:cNvSpPr/>
          <p:nvPr/>
        </p:nvSpPr>
        <p:spPr>
          <a:xfrm>
            <a:off x="8310553" y="2106857"/>
            <a:ext cx="3322777" cy="234944"/>
          </a:xfrm>
          <a:prstGeom prst="rect">
            <a:avLst/>
          </a:prstGeom>
          <a:noFill/>
          <a:ln/>
        </p:spPr>
        <p:txBody>
          <a:bodyPr wrap="none" lIns="0" tIns="0" rIns="0" bIns="0" rtlCol="0" anchor="t"/>
          <a:lstStyle/>
          <a:p>
            <a:pPr algn="l" indent="0" marL="0">
              <a:lnSpc>
                <a:spcPts val="2080"/>
              </a:lnSpc>
              <a:buNone/>
            </a:pPr>
            <a:r>
              <a:rPr lang="en-US" sz="1600" b="1" dirty="0">
                <a:solidFill>
                  <a:srgbClr val="14202B"/>
                </a:solidFill>
                <a:latin typeface="Arial" pitchFamily="34" charset="0"/>
                <a:ea typeface="Arial" pitchFamily="34" charset="-122"/>
                <a:cs typeface="Arial" pitchFamily="34" charset="-120"/>
              </a:rPr>
              <a:t>You will try it in</a:t>
            </a:r>
            <a:endParaRPr lang="en-US" sz="1600" dirty="0"/>
          </a:p>
        </p:txBody>
      </p:sp>
      <p:sp>
        <p:nvSpPr>
          <p:cNvPr id="7" name="Text 5"/>
          <p:cNvSpPr/>
          <p:nvPr/>
        </p:nvSpPr>
        <p:spPr>
          <a:xfrm>
            <a:off x="914377" y="2494198"/>
            <a:ext cx="2849174" cy="234944"/>
          </a:xfrm>
          <a:prstGeom prst="rect">
            <a:avLst/>
          </a:prstGeom>
          <a:noFill/>
          <a:ln/>
        </p:spPr>
        <p:txBody>
          <a:bodyPr wrap="none" lIns="0" tIns="0" rIns="0" bIns="0" rtlCol="0" anchor="t"/>
          <a:lstStyle/>
          <a:p>
            <a:pPr algn="l" indent="0" marL="0">
              <a:lnSpc>
                <a:spcPts val="2080"/>
              </a:lnSpc>
              <a:buNone/>
            </a:pPr>
            <a:r>
              <a:rPr lang="en-US" sz="1600" dirty="0">
                <a:solidFill>
                  <a:srgbClr val="14202B"/>
                </a:solidFill>
                <a:latin typeface="Arial" pitchFamily="34" charset="0"/>
                <a:ea typeface="Arial" pitchFamily="34" charset="-122"/>
                <a:cs typeface="Arial" pitchFamily="34" charset="-120"/>
              </a:rPr>
              <a:t>Developer</a:t>
            </a:r>
            <a:endParaRPr lang="en-US" sz="1600" dirty="0"/>
          </a:p>
        </p:txBody>
      </p:sp>
      <p:sp>
        <p:nvSpPr>
          <p:cNvPr id="8" name="Text 6"/>
          <p:cNvSpPr/>
          <p:nvPr/>
        </p:nvSpPr>
        <p:spPr>
          <a:xfrm>
            <a:off x="3661477" y="2494198"/>
            <a:ext cx="4979387" cy="234944"/>
          </a:xfrm>
          <a:prstGeom prst="rect">
            <a:avLst/>
          </a:prstGeom>
          <a:noFill/>
          <a:ln/>
        </p:spPr>
        <p:txBody>
          <a:bodyPr wrap="none" lIns="0" tIns="0" rIns="0" bIns="0" rtlCol="0" anchor="t"/>
          <a:lstStyle/>
          <a:p>
            <a:pPr algn="l" indent="0" marL="0">
              <a:lnSpc>
                <a:spcPts val="2080"/>
              </a:lnSpc>
              <a:buNone/>
            </a:pPr>
            <a:r>
              <a:rPr lang="en-US" sz="1600" dirty="0">
                <a:solidFill>
                  <a:srgbClr val="14202B"/>
                </a:solidFill>
                <a:latin typeface="Arial" pitchFamily="34" charset="0"/>
                <a:ea typeface="Arial" pitchFamily="34" charset="-122"/>
                <a:cs typeface="Arial" pitchFamily="34" charset="-120"/>
              </a:rPr>
              <a:t>Writes and fixes the code</a:t>
            </a:r>
            <a:endParaRPr lang="en-US" sz="1600" dirty="0"/>
          </a:p>
        </p:txBody>
      </p:sp>
      <p:sp>
        <p:nvSpPr>
          <p:cNvPr id="9" name="Text 7"/>
          <p:cNvSpPr/>
          <p:nvPr/>
        </p:nvSpPr>
        <p:spPr>
          <a:xfrm>
            <a:off x="8310553" y="2494198"/>
            <a:ext cx="3322777" cy="234944"/>
          </a:xfrm>
          <a:prstGeom prst="rect">
            <a:avLst/>
          </a:prstGeom>
          <a:noFill/>
          <a:ln/>
        </p:spPr>
        <p:txBody>
          <a:bodyPr wrap="none" lIns="0" tIns="0" rIns="0" bIns="0" rtlCol="0" anchor="t"/>
          <a:lstStyle/>
          <a:p>
            <a:pPr algn="l" indent="0" marL="0">
              <a:lnSpc>
                <a:spcPts val="2080"/>
              </a:lnSpc>
              <a:buNone/>
            </a:pPr>
            <a:r>
              <a:rPr lang="en-US" sz="1600" dirty="0">
                <a:solidFill>
                  <a:srgbClr val="14202B"/>
                </a:solidFill>
                <a:latin typeface="Arial" pitchFamily="34" charset="0"/>
                <a:ea typeface="Arial" pitchFamily="34" charset="-122"/>
                <a:cs typeface="Arial" pitchFamily="34" charset="-120"/>
              </a:rPr>
              <a:t>Compound Click</a:t>
            </a:r>
            <a:endParaRPr lang="en-US" sz="1600" dirty="0"/>
          </a:p>
        </p:txBody>
      </p:sp>
      <p:sp>
        <p:nvSpPr>
          <p:cNvPr id="10" name="Text 8"/>
          <p:cNvSpPr/>
          <p:nvPr/>
        </p:nvSpPr>
        <p:spPr>
          <a:xfrm>
            <a:off x="914377" y="2881538"/>
            <a:ext cx="2849174" cy="234944"/>
          </a:xfrm>
          <a:prstGeom prst="rect">
            <a:avLst/>
          </a:prstGeom>
          <a:noFill/>
          <a:ln/>
        </p:spPr>
        <p:txBody>
          <a:bodyPr wrap="none" lIns="0" tIns="0" rIns="0" bIns="0" rtlCol="0" anchor="t"/>
          <a:lstStyle/>
          <a:p>
            <a:pPr algn="l" indent="0" marL="0">
              <a:lnSpc>
                <a:spcPts val="2080"/>
              </a:lnSpc>
              <a:buNone/>
            </a:pPr>
            <a:r>
              <a:rPr lang="en-US" sz="1600" dirty="0">
                <a:solidFill>
                  <a:srgbClr val="14202B"/>
                </a:solidFill>
                <a:latin typeface="Arial" pitchFamily="34" charset="0"/>
                <a:ea typeface="Arial" pitchFamily="34" charset="-122"/>
                <a:cs typeface="Arial" pitchFamily="34" charset="-120"/>
              </a:rPr>
              <a:t>Tester</a:t>
            </a:r>
            <a:endParaRPr lang="en-US" sz="1600" dirty="0"/>
          </a:p>
        </p:txBody>
      </p:sp>
      <p:sp>
        <p:nvSpPr>
          <p:cNvPr id="11" name="Text 9"/>
          <p:cNvSpPr/>
          <p:nvPr/>
        </p:nvSpPr>
        <p:spPr>
          <a:xfrm>
            <a:off x="3661477" y="2881538"/>
            <a:ext cx="4979387" cy="234944"/>
          </a:xfrm>
          <a:prstGeom prst="rect">
            <a:avLst/>
          </a:prstGeom>
          <a:noFill/>
          <a:ln/>
        </p:spPr>
        <p:txBody>
          <a:bodyPr wrap="none" lIns="0" tIns="0" rIns="0" bIns="0" rtlCol="0" anchor="t"/>
          <a:lstStyle/>
          <a:p>
            <a:pPr algn="l" indent="0" marL="0">
              <a:lnSpc>
                <a:spcPts val="2080"/>
              </a:lnSpc>
              <a:buNone/>
            </a:pPr>
            <a:r>
              <a:rPr lang="en-US" sz="1600" dirty="0">
                <a:solidFill>
                  <a:srgbClr val="14202B"/>
                </a:solidFill>
                <a:latin typeface="Arial" pitchFamily="34" charset="0"/>
                <a:ea typeface="Arial" pitchFamily="34" charset="-122"/>
                <a:cs typeface="Arial" pitchFamily="34" charset="-120"/>
              </a:rPr>
              <a:t>Predicts, runs, checks the result</a:t>
            </a:r>
            <a:endParaRPr lang="en-US" sz="1600" dirty="0"/>
          </a:p>
        </p:txBody>
      </p:sp>
      <p:sp>
        <p:nvSpPr>
          <p:cNvPr id="12" name="Text 10"/>
          <p:cNvSpPr/>
          <p:nvPr/>
        </p:nvSpPr>
        <p:spPr>
          <a:xfrm>
            <a:off x="8310553" y="2881538"/>
            <a:ext cx="3322777" cy="234944"/>
          </a:xfrm>
          <a:prstGeom prst="rect">
            <a:avLst/>
          </a:prstGeom>
          <a:noFill/>
          <a:ln/>
        </p:spPr>
        <p:txBody>
          <a:bodyPr wrap="none" lIns="0" tIns="0" rIns="0" bIns="0" rtlCol="0" anchor="t"/>
          <a:lstStyle/>
          <a:p>
            <a:pPr algn="l" indent="0" marL="0">
              <a:lnSpc>
                <a:spcPts val="2080"/>
              </a:lnSpc>
              <a:buNone/>
            </a:pPr>
            <a:r>
              <a:rPr lang="en-US" sz="1600" dirty="0">
                <a:solidFill>
                  <a:srgbClr val="14202B"/>
                </a:solidFill>
                <a:latin typeface="Arial" pitchFamily="34" charset="0"/>
                <a:ea typeface="Arial" pitchFamily="34" charset="-122"/>
                <a:cs typeface="Arial" pitchFamily="34" charset="-120"/>
              </a:rPr>
              <a:t>The Vault</a:t>
            </a:r>
            <a:endParaRPr lang="en-US" sz="1600" dirty="0"/>
          </a:p>
        </p:txBody>
      </p:sp>
      <p:sp>
        <p:nvSpPr>
          <p:cNvPr id="13" name="Text 11"/>
          <p:cNvSpPr/>
          <p:nvPr/>
        </p:nvSpPr>
        <p:spPr>
          <a:xfrm>
            <a:off x="914377" y="3268878"/>
            <a:ext cx="2849174" cy="234944"/>
          </a:xfrm>
          <a:prstGeom prst="rect">
            <a:avLst/>
          </a:prstGeom>
          <a:noFill/>
          <a:ln/>
        </p:spPr>
        <p:txBody>
          <a:bodyPr wrap="none" lIns="0" tIns="0" rIns="0" bIns="0" rtlCol="0" anchor="t"/>
          <a:lstStyle/>
          <a:p>
            <a:pPr algn="l" indent="0" marL="0">
              <a:lnSpc>
                <a:spcPts val="2080"/>
              </a:lnSpc>
              <a:buNone/>
            </a:pPr>
            <a:r>
              <a:rPr lang="en-US" sz="1600" dirty="0">
                <a:solidFill>
                  <a:srgbClr val="14202B"/>
                </a:solidFill>
                <a:latin typeface="Arial" pitchFamily="34" charset="0"/>
                <a:ea typeface="Arial" pitchFamily="34" charset="-122"/>
                <a:cs typeface="Arial" pitchFamily="34" charset="-120"/>
              </a:rPr>
              <a:t>Business analyst</a:t>
            </a:r>
            <a:endParaRPr lang="en-US" sz="1600" dirty="0"/>
          </a:p>
        </p:txBody>
      </p:sp>
      <p:sp>
        <p:nvSpPr>
          <p:cNvPr id="14" name="Text 12"/>
          <p:cNvSpPr/>
          <p:nvPr/>
        </p:nvSpPr>
        <p:spPr>
          <a:xfrm>
            <a:off x="3661477" y="3268878"/>
            <a:ext cx="4979387" cy="234944"/>
          </a:xfrm>
          <a:prstGeom prst="rect">
            <a:avLst/>
          </a:prstGeom>
          <a:noFill/>
          <a:ln/>
        </p:spPr>
        <p:txBody>
          <a:bodyPr wrap="none" lIns="0" tIns="0" rIns="0" bIns="0" rtlCol="0" anchor="t"/>
          <a:lstStyle/>
          <a:p>
            <a:pPr algn="l" indent="0" marL="0">
              <a:lnSpc>
                <a:spcPts val="2080"/>
              </a:lnSpc>
              <a:buNone/>
            </a:pPr>
            <a:r>
              <a:rPr lang="en-US" sz="1600" dirty="0">
                <a:solidFill>
                  <a:srgbClr val="14202B"/>
                </a:solidFill>
                <a:latin typeface="Arial" pitchFamily="34" charset="0"/>
                <a:ea typeface="Arial" pitchFamily="34" charset="-122"/>
                <a:cs typeface="Arial" pitchFamily="34" charset="-120"/>
              </a:rPr>
              <a:t>Turns a rule into logic</a:t>
            </a:r>
            <a:endParaRPr lang="en-US" sz="1600" dirty="0"/>
          </a:p>
        </p:txBody>
      </p:sp>
      <p:sp>
        <p:nvSpPr>
          <p:cNvPr id="15" name="Text 13"/>
          <p:cNvSpPr/>
          <p:nvPr/>
        </p:nvSpPr>
        <p:spPr>
          <a:xfrm>
            <a:off x="8310553" y="3268878"/>
            <a:ext cx="3322777" cy="234944"/>
          </a:xfrm>
          <a:prstGeom prst="rect">
            <a:avLst/>
          </a:prstGeom>
          <a:noFill/>
          <a:ln/>
        </p:spPr>
        <p:txBody>
          <a:bodyPr wrap="none" lIns="0" tIns="0" rIns="0" bIns="0" rtlCol="0" anchor="t"/>
          <a:lstStyle/>
          <a:p>
            <a:pPr algn="l" indent="0" marL="0">
              <a:lnSpc>
                <a:spcPts val="2080"/>
              </a:lnSpc>
              <a:buNone/>
            </a:pPr>
            <a:r>
              <a:rPr lang="en-US" sz="1600" dirty="0">
                <a:solidFill>
                  <a:srgbClr val="14202B"/>
                </a:solidFill>
                <a:latin typeface="Arial" pitchFamily="34" charset="0"/>
                <a:ea typeface="Arial" pitchFamily="34" charset="-122"/>
                <a:cs typeface="Arial" pitchFamily="34" charset="-120"/>
              </a:rPr>
              <a:t>The Ledger rule</a:t>
            </a:r>
            <a:endParaRPr lang="en-US" sz="1600" dirty="0"/>
          </a:p>
        </p:txBody>
      </p:sp>
      <p:sp>
        <p:nvSpPr>
          <p:cNvPr id="16" name="Text 14"/>
          <p:cNvSpPr/>
          <p:nvPr/>
        </p:nvSpPr>
        <p:spPr>
          <a:xfrm>
            <a:off x="914377" y="3656219"/>
            <a:ext cx="2849174" cy="234944"/>
          </a:xfrm>
          <a:prstGeom prst="rect">
            <a:avLst/>
          </a:prstGeom>
          <a:noFill/>
          <a:ln/>
        </p:spPr>
        <p:txBody>
          <a:bodyPr wrap="none" lIns="0" tIns="0" rIns="0" bIns="0" rtlCol="0" anchor="t"/>
          <a:lstStyle/>
          <a:p>
            <a:pPr algn="l" indent="0" marL="0">
              <a:lnSpc>
                <a:spcPts val="2080"/>
              </a:lnSpc>
              <a:buNone/>
            </a:pPr>
            <a:r>
              <a:rPr lang="en-US" sz="1600" dirty="0">
                <a:solidFill>
                  <a:srgbClr val="14202B"/>
                </a:solidFill>
                <a:latin typeface="Arial" pitchFamily="34" charset="0"/>
                <a:ea typeface="Arial" pitchFamily="34" charset="-122"/>
                <a:cs typeface="Arial" pitchFamily="34" charset="-120"/>
              </a:rPr>
              <a:t>Security specialist</a:t>
            </a:r>
            <a:endParaRPr lang="en-US" sz="1600" dirty="0"/>
          </a:p>
        </p:txBody>
      </p:sp>
      <p:sp>
        <p:nvSpPr>
          <p:cNvPr id="17" name="Text 15"/>
          <p:cNvSpPr/>
          <p:nvPr/>
        </p:nvSpPr>
        <p:spPr>
          <a:xfrm>
            <a:off x="3661477" y="3656219"/>
            <a:ext cx="4979387" cy="234944"/>
          </a:xfrm>
          <a:prstGeom prst="rect">
            <a:avLst/>
          </a:prstGeom>
          <a:noFill/>
          <a:ln/>
        </p:spPr>
        <p:txBody>
          <a:bodyPr wrap="none" lIns="0" tIns="0" rIns="0" bIns="0" rtlCol="0" anchor="t"/>
          <a:lstStyle/>
          <a:p>
            <a:pPr algn="l" indent="0" marL="0">
              <a:lnSpc>
                <a:spcPts val="2080"/>
              </a:lnSpc>
              <a:buNone/>
            </a:pPr>
            <a:r>
              <a:rPr lang="en-US" sz="1600" dirty="0">
                <a:solidFill>
                  <a:srgbClr val="14202B"/>
                </a:solidFill>
                <a:latin typeface="Arial" pitchFamily="34" charset="0"/>
                <a:ea typeface="Arial" pitchFamily="34" charset="-122"/>
                <a:cs typeface="Arial" pitchFamily="34" charset="-120"/>
              </a:rPr>
              <a:t>Protects data from clever attackers</a:t>
            </a:r>
            <a:endParaRPr lang="en-US" sz="1600" dirty="0"/>
          </a:p>
        </p:txBody>
      </p:sp>
      <p:sp>
        <p:nvSpPr>
          <p:cNvPr id="18" name="Text 16"/>
          <p:cNvSpPr/>
          <p:nvPr/>
        </p:nvSpPr>
        <p:spPr>
          <a:xfrm>
            <a:off x="8310553" y="3656219"/>
            <a:ext cx="3322777" cy="234944"/>
          </a:xfrm>
          <a:prstGeom prst="rect">
            <a:avLst/>
          </a:prstGeom>
          <a:noFill/>
          <a:ln/>
        </p:spPr>
        <p:txBody>
          <a:bodyPr wrap="none" lIns="0" tIns="0" rIns="0" bIns="0" rtlCol="0" anchor="t"/>
          <a:lstStyle/>
          <a:p>
            <a:pPr algn="l" indent="0" marL="0">
              <a:lnSpc>
                <a:spcPts val="2080"/>
              </a:lnSpc>
              <a:buNone/>
            </a:pPr>
            <a:r>
              <a:rPr lang="en-US" sz="1600" dirty="0">
                <a:solidFill>
                  <a:srgbClr val="14202B"/>
                </a:solidFill>
                <a:latin typeface="Arial" pitchFamily="34" charset="0"/>
                <a:ea typeface="Arial" pitchFamily="34" charset="-122"/>
                <a:cs typeface="Arial" pitchFamily="34" charset="-120"/>
              </a:rPr>
              <a:t>The cipher and the button</a:t>
            </a:r>
            <a:endParaRPr lang="en-US" sz="1600" dirty="0"/>
          </a:p>
        </p:txBody>
      </p:sp>
      <p:sp>
        <p:nvSpPr>
          <p:cNvPr id="19" name="Text 17"/>
          <p:cNvSpPr/>
          <p:nvPr/>
        </p:nvSpPr>
        <p:spPr>
          <a:xfrm>
            <a:off x="812780" y="6273643"/>
            <a:ext cx="1107000" cy="177796"/>
          </a:xfrm>
          <a:prstGeom prst="rect">
            <a:avLst/>
          </a:prstGeom>
          <a:noFill/>
          <a:ln/>
        </p:spPr>
        <p:txBody>
          <a:bodyPr wrap="square" lIns="0" tIns="0" rIns="0" bIns="0" rtlCol="0" anchor="t"/>
          <a:lstStyle/>
          <a:p>
            <a:pPr algn="l" indent="0" marL="0">
              <a:lnSpc>
                <a:spcPts val="1560"/>
              </a:lnSpc>
              <a:buNone/>
            </a:pPr>
            <a:r>
              <a:rPr lang="en-US" sz="1200" dirty="0">
                <a:solidFill>
                  <a:srgbClr val="4F6073"/>
                </a:solidFill>
                <a:latin typeface="Arial" pitchFamily="34" charset="0"/>
                <a:ea typeface="Arial" pitchFamily="34" charset="-122"/>
                <a:cs typeface="Arial" pitchFamily="34" charset="-120"/>
              </a:rPr>
              <a:t>Pivot into Tech</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8F9DFF"/>
                </a:solidFill>
                <a:latin typeface="Arial" pitchFamily="34" charset="0"/>
                <a:ea typeface="Arial" pitchFamily="34" charset="-122"/>
                <a:cs typeface="Arial" pitchFamily="34" charset="-120"/>
              </a:rPr>
              <a:t>LOOMSTEM · ROLLERCOASTER</a:t>
            </a:r>
            <a:endParaRPr lang="en-US" sz="1400" dirty="0"/>
          </a:p>
        </p:txBody>
      </p:sp>
      <p:sp>
        <p:nvSpPr>
          <p:cNvPr id="3" name="Text 1"/>
          <p:cNvSpPr/>
          <p:nvPr/>
        </p:nvSpPr>
        <p:spPr>
          <a:xfrm>
            <a:off x="812780" y="1269968"/>
            <a:ext cx="11834072" cy="533387"/>
          </a:xfrm>
          <a:prstGeom prst="rect">
            <a:avLst/>
          </a:prstGeom>
          <a:noFill/>
          <a:ln/>
        </p:spPr>
        <p:txBody>
          <a:bodyPr wrap="none" lIns="0" tIns="0" rIns="0" bIns="0" rtlCol="0" anchor="t"/>
          <a:lstStyle/>
          <a:p>
            <a:pPr algn="l" indent="0" marL="0">
              <a:lnSpc>
                <a:spcPts val="4200"/>
              </a:lnSpc>
              <a:buNone/>
            </a:pPr>
            <a:r>
              <a:rPr lang="en-US" sz="4000" b="1" dirty="0">
                <a:solidFill>
                  <a:srgbClr val="EEF2F6"/>
                </a:solidFill>
                <a:latin typeface="Arial" pitchFamily="34" charset="0"/>
                <a:ea typeface="Arial" pitchFamily="34" charset="-122"/>
                <a:cs typeface="Arial" pitchFamily="34" charset="-120"/>
              </a:rPr>
              <a:t>Drag five blocks. Watch the ride react.</a:t>
            </a:r>
            <a:endParaRPr lang="en-US" sz="4000" dirty="0"/>
          </a:p>
        </p:txBody>
      </p:sp>
      <p:sp>
        <p:nvSpPr>
          <p:cNvPr id="4" name="Shape 2"/>
          <p:cNvSpPr/>
          <p:nvPr/>
        </p:nvSpPr>
        <p:spPr>
          <a:xfrm>
            <a:off x="812780" y="2057349"/>
            <a:ext cx="5441814" cy="2616135"/>
          </a:xfrm>
          <a:prstGeom prst="roundRect">
            <a:avLst>
              <a:gd name="adj" fmla="val 4854"/>
            </a:avLst>
          </a:prstGeom>
          <a:solidFill>
            <a:srgbClr val="16222D"/>
          </a:solidFill>
          <a:ln w="6350">
            <a:solidFill>
              <a:srgbClr val="26384A"/>
            </a:solidFill>
            <a:prstDash val="solid"/>
          </a:ln>
        </p:spPr>
      </p:sp>
      <p:sp>
        <p:nvSpPr>
          <p:cNvPr id="5" name="Text 3"/>
          <p:cNvSpPr/>
          <p:nvPr/>
        </p:nvSpPr>
        <p:spPr>
          <a:xfrm>
            <a:off x="1073123" y="2317692"/>
            <a:ext cx="5511662" cy="260343"/>
          </a:xfrm>
          <a:prstGeom prst="rect">
            <a:avLst/>
          </a:prstGeom>
          <a:noFill/>
          <a:ln/>
        </p:spPr>
        <p:txBody>
          <a:bodyPr wrap="none" lIns="0" tIns="0" rIns="0" bIns="0" rtlCol="0" anchor="t"/>
          <a:lstStyle/>
          <a:p>
            <a:pPr algn="l" indent="0" marL="0">
              <a:lnSpc>
                <a:spcPts val="2340"/>
              </a:lnSpc>
              <a:buNone/>
            </a:pPr>
            <a:r>
              <a:rPr lang="en-US" sz="1800" dirty="0">
                <a:solidFill>
                  <a:srgbClr val="EEF2F6"/>
                </a:solidFill>
                <a:latin typeface="Consolas" pitchFamily="34" charset="0"/>
                <a:ea typeface="Consolas" pitchFamily="34" charset="-122"/>
                <a:cs typeface="Consolas" pitchFamily="34" charset="-120"/>
              </a:rPr>
              <a:t>set gravity = 9.8</a:t>
            </a:r>
            <a:endParaRPr lang="en-US" sz="1800" dirty="0"/>
          </a:p>
        </p:txBody>
      </p:sp>
      <p:sp>
        <p:nvSpPr>
          <p:cNvPr id="6" name="Text 4"/>
          <p:cNvSpPr/>
          <p:nvPr/>
        </p:nvSpPr>
        <p:spPr>
          <a:xfrm>
            <a:off x="1073123" y="2666933"/>
            <a:ext cx="5511662" cy="260343"/>
          </a:xfrm>
          <a:prstGeom prst="rect">
            <a:avLst/>
          </a:prstGeom>
          <a:noFill/>
          <a:ln/>
        </p:spPr>
        <p:txBody>
          <a:bodyPr wrap="none" lIns="0" tIns="0" rIns="0" bIns="0" rtlCol="0" anchor="t"/>
          <a:lstStyle/>
          <a:p>
            <a:pPr algn="l" indent="0" marL="0">
              <a:lnSpc>
                <a:spcPts val="2340"/>
              </a:lnSpc>
              <a:buNone/>
            </a:pPr>
            <a:r>
              <a:rPr lang="en-US" sz="1800" dirty="0">
                <a:solidFill>
                  <a:srgbClr val="EEF2F6"/>
                </a:solidFill>
                <a:latin typeface="Consolas" pitchFamily="34" charset="0"/>
                <a:ea typeface="Consolas" pitchFamily="34" charset="-122"/>
                <a:cs typeface="Consolas" pitchFamily="34" charset="-120"/>
              </a:rPr>
              <a:t>trackPoint(80)</a:t>
            </a:r>
            <a:endParaRPr lang="en-US" sz="1800" dirty="0"/>
          </a:p>
        </p:txBody>
      </p:sp>
      <p:sp>
        <p:nvSpPr>
          <p:cNvPr id="7" name="Text 5"/>
          <p:cNvSpPr/>
          <p:nvPr/>
        </p:nvSpPr>
        <p:spPr>
          <a:xfrm>
            <a:off x="1073123" y="3016175"/>
            <a:ext cx="5511662" cy="260343"/>
          </a:xfrm>
          <a:prstGeom prst="rect">
            <a:avLst/>
          </a:prstGeom>
          <a:noFill/>
          <a:ln/>
        </p:spPr>
        <p:txBody>
          <a:bodyPr wrap="none" lIns="0" tIns="0" rIns="0" bIns="0" rtlCol="0" anchor="t"/>
          <a:lstStyle/>
          <a:p>
            <a:pPr algn="l" indent="0" marL="0">
              <a:lnSpc>
                <a:spcPts val="2340"/>
              </a:lnSpc>
              <a:buNone/>
            </a:pPr>
            <a:r>
              <a:rPr lang="en-US" sz="1800" dirty="0">
                <a:solidFill>
                  <a:srgbClr val="EEF2F6"/>
                </a:solidFill>
                <a:latin typeface="Consolas" pitchFamily="34" charset="0"/>
                <a:ea typeface="Consolas" pitchFamily="34" charset="-122"/>
                <a:cs typeface="Consolas" pitchFamily="34" charset="-120"/>
              </a:rPr>
              <a:t>trackPoint(75)</a:t>
            </a:r>
            <a:endParaRPr lang="en-US" sz="1800" dirty="0"/>
          </a:p>
        </p:txBody>
      </p:sp>
      <p:sp>
        <p:nvSpPr>
          <p:cNvPr id="8" name="Text 6"/>
          <p:cNvSpPr/>
          <p:nvPr/>
        </p:nvSpPr>
        <p:spPr>
          <a:xfrm>
            <a:off x="1073123" y="3365416"/>
            <a:ext cx="5511662" cy="260343"/>
          </a:xfrm>
          <a:prstGeom prst="rect">
            <a:avLst/>
          </a:prstGeom>
          <a:noFill/>
          <a:ln/>
        </p:spPr>
        <p:txBody>
          <a:bodyPr wrap="none" lIns="0" tIns="0" rIns="0" bIns="0" rtlCol="0" anchor="t"/>
          <a:lstStyle/>
          <a:p>
            <a:pPr algn="l" indent="0" marL="0">
              <a:lnSpc>
                <a:spcPts val="2340"/>
              </a:lnSpc>
              <a:buNone/>
            </a:pPr>
            <a:r>
              <a:rPr lang="en-US" sz="1800" dirty="0">
                <a:solidFill>
                  <a:srgbClr val="EEF2F6"/>
                </a:solidFill>
                <a:latin typeface="Consolas" pitchFamily="34" charset="0"/>
                <a:ea typeface="Consolas" pitchFamily="34" charset="-122"/>
                <a:cs typeface="Consolas" pitchFamily="34" charset="-120"/>
              </a:rPr>
              <a:t>trackPoint(10)</a:t>
            </a:r>
            <a:endParaRPr lang="en-US" sz="1800" dirty="0"/>
          </a:p>
        </p:txBody>
      </p:sp>
      <p:sp>
        <p:nvSpPr>
          <p:cNvPr id="9" name="Text 7"/>
          <p:cNvSpPr/>
          <p:nvPr/>
        </p:nvSpPr>
        <p:spPr>
          <a:xfrm>
            <a:off x="1073123" y="3714657"/>
            <a:ext cx="5511662" cy="260343"/>
          </a:xfrm>
          <a:prstGeom prst="rect">
            <a:avLst/>
          </a:prstGeom>
          <a:noFill/>
          <a:ln/>
        </p:spPr>
        <p:txBody>
          <a:bodyPr wrap="none" lIns="0" tIns="0" rIns="0" bIns="0" rtlCol="0" anchor="t"/>
          <a:lstStyle/>
          <a:p>
            <a:pPr algn="l" indent="0" marL="0">
              <a:lnSpc>
                <a:spcPts val="2340"/>
              </a:lnSpc>
              <a:buNone/>
            </a:pPr>
            <a:r>
              <a:rPr lang="en-US" sz="1800" dirty="0">
                <a:solidFill>
                  <a:srgbClr val="EEF2F6"/>
                </a:solidFill>
                <a:latin typeface="Consolas" pitchFamily="34" charset="0"/>
                <a:ea typeface="Consolas" pitchFamily="34" charset="-122"/>
                <a:cs typeface="Consolas" pitchFamily="34" charset="-120"/>
              </a:rPr>
              <a:t>trackPoint(45)</a:t>
            </a:r>
            <a:endParaRPr lang="en-US" sz="1800" dirty="0"/>
          </a:p>
        </p:txBody>
      </p:sp>
      <p:sp>
        <p:nvSpPr>
          <p:cNvPr id="10" name="Shape 8"/>
          <p:cNvSpPr/>
          <p:nvPr/>
        </p:nvSpPr>
        <p:spPr>
          <a:xfrm>
            <a:off x="6457789" y="2057349"/>
            <a:ext cx="4921127" cy="1231869"/>
          </a:xfrm>
          <a:prstGeom prst="roundRect">
            <a:avLst>
              <a:gd name="adj" fmla="val 10309"/>
            </a:avLst>
          </a:prstGeom>
          <a:solidFill>
            <a:srgbClr val="16222D"/>
          </a:solidFill>
          <a:ln w="6350">
            <a:solidFill>
              <a:srgbClr val="26384A"/>
            </a:solidFill>
            <a:prstDash val="solid"/>
          </a:ln>
        </p:spPr>
      </p:sp>
      <p:sp>
        <p:nvSpPr>
          <p:cNvPr id="11" name="Text 9"/>
          <p:cNvSpPr/>
          <p:nvPr/>
        </p:nvSpPr>
        <p:spPr>
          <a:xfrm>
            <a:off x="6667333" y="2266893"/>
            <a:ext cx="5042282" cy="558786"/>
          </a:xfrm>
          <a:prstGeom prst="rect">
            <a:avLst/>
          </a:prstGeom>
          <a:noFill/>
          <a:ln/>
        </p:spPr>
        <p:txBody>
          <a:bodyPr wrap="none" lIns="0" tIns="0" rIns="0" bIns="0" rtlCol="0" anchor="t"/>
          <a:lstStyle/>
          <a:p>
            <a:pPr algn="l" indent="0" marL="0">
              <a:lnSpc>
                <a:spcPts val="4400"/>
              </a:lnSpc>
              <a:buNone/>
            </a:pPr>
            <a:r>
              <a:rPr lang="en-US" sz="4400" b="1" dirty="0">
                <a:solidFill>
                  <a:srgbClr val="FFB35C"/>
                </a:solidFill>
                <a:latin typeface="Arial" pitchFamily="34" charset="0"/>
                <a:ea typeface="Arial" pitchFamily="34" charset="-122"/>
                <a:cs typeface="Arial" pitchFamily="34" charset="-120"/>
              </a:rPr>
              <a:t>66 / 100</a:t>
            </a:r>
            <a:endParaRPr lang="en-US" sz="4400" dirty="0"/>
          </a:p>
        </p:txBody>
      </p:sp>
      <p:sp>
        <p:nvSpPr>
          <p:cNvPr id="12" name="Text 10"/>
          <p:cNvSpPr/>
          <p:nvPr/>
        </p:nvSpPr>
        <p:spPr>
          <a:xfrm>
            <a:off x="6667333" y="2863778"/>
            <a:ext cx="5042282" cy="215895"/>
          </a:xfrm>
          <a:prstGeom prst="rect">
            <a:avLst/>
          </a:prstGeom>
          <a:noFill/>
          <a:ln/>
        </p:spPr>
        <p:txBody>
          <a:bodyPr wrap="none" lIns="0" tIns="0" rIns="0" bIns="0" rtlCol="0" anchor="t"/>
          <a:lstStyle/>
          <a:p>
            <a:pPr algn="l" indent="0" marL="0">
              <a:lnSpc>
                <a:spcPts val="1950"/>
              </a:lnSpc>
              <a:buNone/>
            </a:pPr>
            <a:r>
              <a:rPr lang="en-US" sz="1500" dirty="0">
                <a:solidFill>
                  <a:srgbClr val="B7C4D1"/>
                </a:solidFill>
                <a:latin typeface="Arial" pitchFamily="34" charset="0"/>
                <a:ea typeface="Arial" pitchFamily="34" charset="-122"/>
                <a:cs typeface="Arial" pitchFamily="34" charset="-120"/>
              </a:rPr>
              <a:t>After the small dip. A bit tame.</a:t>
            </a:r>
            <a:endParaRPr lang="en-US" sz="1500" dirty="0"/>
          </a:p>
        </p:txBody>
      </p:sp>
      <p:sp>
        <p:nvSpPr>
          <p:cNvPr id="13" name="Shape 11"/>
          <p:cNvSpPr/>
          <p:nvPr/>
        </p:nvSpPr>
        <p:spPr>
          <a:xfrm>
            <a:off x="6457789" y="3441614"/>
            <a:ext cx="4921127" cy="1231869"/>
          </a:xfrm>
          <a:prstGeom prst="roundRect">
            <a:avLst>
              <a:gd name="adj" fmla="val 10309"/>
            </a:avLst>
          </a:prstGeom>
          <a:solidFill>
            <a:srgbClr val="16222D"/>
          </a:solidFill>
          <a:ln w="6350">
            <a:solidFill>
              <a:srgbClr val="26384A"/>
            </a:solidFill>
            <a:prstDash val="solid"/>
          </a:ln>
        </p:spPr>
      </p:sp>
      <p:sp>
        <p:nvSpPr>
          <p:cNvPr id="14" name="Text 12"/>
          <p:cNvSpPr/>
          <p:nvPr/>
        </p:nvSpPr>
        <p:spPr>
          <a:xfrm>
            <a:off x="6667333" y="3651159"/>
            <a:ext cx="5042282" cy="558786"/>
          </a:xfrm>
          <a:prstGeom prst="rect">
            <a:avLst/>
          </a:prstGeom>
          <a:noFill/>
          <a:ln/>
        </p:spPr>
        <p:txBody>
          <a:bodyPr wrap="none" lIns="0" tIns="0" rIns="0" bIns="0" rtlCol="0" anchor="t"/>
          <a:lstStyle/>
          <a:p>
            <a:pPr algn="l" indent="0" marL="0">
              <a:lnSpc>
                <a:spcPts val="4400"/>
              </a:lnSpc>
              <a:buNone/>
            </a:pPr>
            <a:r>
              <a:rPr lang="en-US" sz="4400" b="1" dirty="0">
                <a:solidFill>
                  <a:srgbClr val="3CC7BD"/>
                </a:solidFill>
                <a:latin typeface="Arial" pitchFamily="34" charset="0"/>
                <a:ea typeface="Arial" pitchFamily="34" charset="-122"/>
                <a:cs typeface="Arial" pitchFamily="34" charset="-120"/>
              </a:rPr>
              <a:t>87 / 100</a:t>
            </a:r>
            <a:endParaRPr lang="en-US" sz="4400" dirty="0"/>
          </a:p>
        </p:txBody>
      </p:sp>
      <p:sp>
        <p:nvSpPr>
          <p:cNvPr id="15" name="Text 13"/>
          <p:cNvSpPr/>
          <p:nvPr/>
        </p:nvSpPr>
        <p:spPr>
          <a:xfrm>
            <a:off x="6667333" y="4248044"/>
            <a:ext cx="5042282" cy="215895"/>
          </a:xfrm>
          <a:prstGeom prst="rect">
            <a:avLst/>
          </a:prstGeom>
          <a:noFill/>
          <a:ln/>
        </p:spPr>
        <p:txBody>
          <a:bodyPr wrap="none" lIns="0" tIns="0" rIns="0" bIns="0" rtlCol="0" anchor="t"/>
          <a:lstStyle/>
          <a:p>
            <a:pPr algn="l" indent="0" marL="0">
              <a:lnSpc>
                <a:spcPts val="1950"/>
              </a:lnSpc>
              <a:buNone/>
            </a:pPr>
            <a:r>
              <a:rPr lang="en-US" sz="1500" dirty="0">
                <a:solidFill>
                  <a:srgbClr val="B7C4D1"/>
                </a:solidFill>
                <a:latin typeface="Arial" pitchFamily="34" charset="0"/>
                <a:ea typeface="Arial" pitchFamily="34" charset="-122"/>
                <a:cs typeface="Arial" pitchFamily="34" charset="-120"/>
              </a:rPr>
              <a:t>After the big drop. Thrilling and safe.</a:t>
            </a:r>
            <a:endParaRPr lang="en-US" sz="1500" dirty="0"/>
          </a:p>
        </p:txBody>
      </p:sp>
      <p:sp>
        <p:nvSpPr>
          <p:cNvPr id="16" name="Text 14"/>
          <p:cNvSpPr/>
          <p:nvPr/>
        </p:nvSpPr>
        <p:spPr>
          <a:xfrm>
            <a:off x="812780" y="6273643"/>
            <a:ext cx="4298208"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Run after the second and fifth blocks. Ask what changed.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8F9DFF"/>
                </a:solidFill>
                <a:latin typeface="Arial" pitchFamily="34" charset="0"/>
                <a:ea typeface="Arial" pitchFamily="34" charset="-122"/>
                <a:cs typeface="Arial" pitchFamily="34" charset="-120"/>
              </a:rPr>
              <a:t>LOOMSTEM · PART 2</a:t>
            </a:r>
            <a:endParaRPr lang="en-US" sz="1400" dirty="0"/>
          </a:p>
        </p:txBody>
      </p:sp>
      <p:sp>
        <p:nvSpPr>
          <p:cNvPr id="3" name="Text 1"/>
          <p:cNvSpPr/>
          <p:nvPr/>
        </p:nvSpPr>
        <p:spPr>
          <a:xfrm>
            <a:off x="812780" y="1269968"/>
            <a:ext cx="11834072" cy="533387"/>
          </a:xfrm>
          <a:prstGeom prst="rect">
            <a:avLst/>
          </a:prstGeom>
          <a:noFill/>
          <a:ln/>
        </p:spPr>
        <p:txBody>
          <a:bodyPr wrap="none" lIns="0" tIns="0" rIns="0" bIns="0" rtlCol="0" anchor="t"/>
          <a:lstStyle/>
          <a:p>
            <a:pPr algn="l" indent="0" marL="0">
              <a:lnSpc>
                <a:spcPts val="4200"/>
              </a:lnSpc>
              <a:buNone/>
            </a:pPr>
            <a:r>
              <a:rPr lang="en-US" sz="4000" b="1" dirty="0">
                <a:solidFill>
                  <a:srgbClr val="EEF2F6"/>
                </a:solidFill>
                <a:latin typeface="Arial" pitchFamily="34" charset="0"/>
                <a:ea typeface="Arial" pitchFamily="34" charset="-122"/>
                <a:cs typeface="Arial" pitchFamily="34" charset="-120"/>
              </a:rPr>
              <a:t>Two lines. Five points.</a:t>
            </a:r>
            <a:endParaRPr lang="en-US" sz="4000" dirty="0"/>
          </a:p>
        </p:txBody>
      </p:sp>
      <p:sp>
        <p:nvSpPr>
          <p:cNvPr id="4" name="Shape 2"/>
          <p:cNvSpPr/>
          <p:nvPr/>
        </p:nvSpPr>
        <p:spPr>
          <a:xfrm>
            <a:off x="812780" y="2057349"/>
            <a:ext cx="5441814" cy="2031949"/>
          </a:xfrm>
          <a:prstGeom prst="roundRect">
            <a:avLst>
              <a:gd name="adj" fmla="val 6250"/>
            </a:avLst>
          </a:prstGeom>
          <a:solidFill>
            <a:srgbClr val="16222D"/>
          </a:solidFill>
          <a:ln w="6350">
            <a:solidFill>
              <a:srgbClr val="26384A"/>
            </a:solidFill>
            <a:prstDash val="solid"/>
          </a:ln>
        </p:spPr>
      </p:sp>
      <p:sp>
        <p:nvSpPr>
          <p:cNvPr id="5" name="Text 3"/>
          <p:cNvSpPr/>
          <p:nvPr/>
        </p:nvSpPr>
        <p:spPr>
          <a:xfrm>
            <a:off x="1073123" y="2317692"/>
            <a:ext cx="5511662" cy="241294"/>
          </a:xfrm>
          <a:prstGeom prst="rect">
            <a:avLst/>
          </a:prstGeom>
          <a:noFill/>
          <a:ln/>
        </p:spPr>
        <p:txBody>
          <a:bodyPr wrap="none" lIns="0" tIns="0" rIns="0" bIns="0" rtlCol="0" anchor="t"/>
          <a:lstStyle/>
          <a:p>
            <a:pPr algn="l" indent="0" marL="0">
              <a:lnSpc>
                <a:spcPts val="2210"/>
              </a:lnSpc>
              <a:buNone/>
            </a:pPr>
            <a:r>
              <a:rPr lang="en-US" sz="1700" dirty="0">
                <a:solidFill>
                  <a:srgbClr val="EEF2F6"/>
                </a:solidFill>
                <a:latin typeface="Consolas" pitchFamily="34" charset="0"/>
                <a:ea typeface="Consolas" pitchFamily="34" charset="-122"/>
                <a:cs typeface="Consolas" pitchFamily="34" charset="-120"/>
              </a:rPr>
              <a:t>set height = 90</a:t>
            </a:r>
            <a:endParaRPr lang="en-US" sz="1700" dirty="0"/>
          </a:p>
        </p:txBody>
      </p:sp>
      <p:sp>
        <p:nvSpPr>
          <p:cNvPr id="6" name="Text 4"/>
          <p:cNvSpPr/>
          <p:nvPr/>
        </p:nvSpPr>
        <p:spPr>
          <a:xfrm>
            <a:off x="1073123" y="2635184"/>
            <a:ext cx="5511662" cy="241294"/>
          </a:xfrm>
          <a:prstGeom prst="rect">
            <a:avLst/>
          </a:prstGeom>
          <a:noFill/>
          <a:ln/>
        </p:spPr>
        <p:txBody>
          <a:bodyPr wrap="none" lIns="0" tIns="0" rIns="0" bIns="0" rtlCol="0" anchor="t"/>
          <a:lstStyle/>
          <a:p>
            <a:pPr algn="l" indent="0" marL="0">
              <a:lnSpc>
                <a:spcPts val="2210"/>
              </a:lnSpc>
              <a:buNone/>
            </a:pPr>
            <a:r>
              <a:rPr lang="en-US" sz="1700" dirty="0">
                <a:solidFill>
                  <a:srgbClr val="3CC7BD"/>
                </a:solidFill>
                <a:latin typeface="Consolas" pitchFamily="34" charset="0"/>
                <a:ea typeface="Consolas" pitchFamily="34" charset="-122"/>
                <a:cs typeface="Consolas" pitchFamily="34" charset="-120"/>
              </a:rPr>
              <a:t>repeat 5 times {</a:t>
            </a:r>
            <a:endParaRPr lang="en-US" sz="1700" dirty="0"/>
          </a:p>
        </p:txBody>
      </p:sp>
      <p:sp>
        <p:nvSpPr>
          <p:cNvPr id="7" name="Text 5"/>
          <p:cNvSpPr/>
          <p:nvPr/>
        </p:nvSpPr>
        <p:spPr>
          <a:xfrm>
            <a:off x="1073123" y="2952676"/>
            <a:ext cx="5511662" cy="241294"/>
          </a:xfrm>
          <a:prstGeom prst="rect">
            <a:avLst/>
          </a:prstGeom>
          <a:noFill/>
          <a:ln/>
        </p:spPr>
        <p:txBody>
          <a:bodyPr wrap="none" lIns="0" tIns="0" rIns="0" bIns="0" rtlCol="0" anchor="t"/>
          <a:lstStyle/>
          <a:p>
            <a:pPr algn="l" indent="0" marL="0">
              <a:lnSpc>
                <a:spcPts val="2210"/>
              </a:lnSpc>
              <a:buNone/>
            </a:pPr>
            <a:r>
              <a:rPr lang="en-US" sz="1700" dirty="0">
                <a:solidFill>
                  <a:srgbClr val="EEF2F6"/>
                </a:solidFill>
                <a:latin typeface="Consolas" pitchFamily="34" charset="0"/>
                <a:ea typeface="Consolas" pitchFamily="34" charset="-122"/>
                <a:cs typeface="Consolas" pitchFamily="34" charset="-120"/>
              </a:rPr>
              <a:t>trackPoint(height)</a:t>
            </a:r>
            <a:endParaRPr lang="en-US" sz="1700" dirty="0"/>
          </a:p>
        </p:txBody>
      </p:sp>
      <p:sp>
        <p:nvSpPr>
          <p:cNvPr id="8" name="Text 6"/>
          <p:cNvSpPr/>
          <p:nvPr/>
        </p:nvSpPr>
        <p:spPr>
          <a:xfrm>
            <a:off x="1073123" y="3270168"/>
            <a:ext cx="5511662" cy="241294"/>
          </a:xfrm>
          <a:prstGeom prst="rect">
            <a:avLst/>
          </a:prstGeom>
          <a:noFill/>
          <a:ln/>
        </p:spPr>
        <p:txBody>
          <a:bodyPr wrap="none" lIns="0" tIns="0" rIns="0" bIns="0" rtlCol="0" anchor="t"/>
          <a:lstStyle/>
          <a:p>
            <a:pPr algn="l" indent="0" marL="0">
              <a:lnSpc>
                <a:spcPts val="2210"/>
              </a:lnSpc>
              <a:buNone/>
            </a:pPr>
            <a:r>
              <a:rPr lang="en-US" sz="1700" dirty="0">
                <a:solidFill>
                  <a:srgbClr val="EEF2F6"/>
                </a:solidFill>
                <a:latin typeface="Consolas" pitchFamily="34" charset="0"/>
                <a:ea typeface="Consolas" pitchFamily="34" charset="-122"/>
                <a:cs typeface="Consolas" pitchFamily="34" charset="-120"/>
              </a:rPr>
              <a:t>height = height - 15</a:t>
            </a:r>
            <a:endParaRPr lang="en-US" sz="1700" dirty="0"/>
          </a:p>
        </p:txBody>
      </p:sp>
      <p:sp>
        <p:nvSpPr>
          <p:cNvPr id="9" name="Text 7"/>
          <p:cNvSpPr/>
          <p:nvPr/>
        </p:nvSpPr>
        <p:spPr>
          <a:xfrm>
            <a:off x="1073123" y="3587660"/>
            <a:ext cx="5511662" cy="241294"/>
          </a:xfrm>
          <a:prstGeom prst="rect">
            <a:avLst/>
          </a:prstGeom>
          <a:noFill/>
          <a:ln/>
        </p:spPr>
        <p:txBody>
          <a:bodyPr wrap="none" lIns="0" tIns="0" rIns="0" bIns="0" rtlCol="0" anchor="t"/>
          <a:lstStyle/>
          <a:p>
            <a:pPr algn="l" indent="0" marL="0">
              <a:lnSpc>
                <a:spcPts val="2210"/>
              </a:lnSpc>
              <a:buNone/>
            </a:pPr>
            <a:r>
              <a:rPr lang="en-US" sz="1700" dirty="0">
                <a:solidFill>
                  <a:srgbClr val="3CC7BD"/>
                </a:solidFill>
                <a:latin typeface="Consolas" pitchFamily="34" charset="0"/>
                <a:ea typeface="Consolas" pitchFamily="34" charset="-122"/>
                <a:cs typeface="Consolas" pitchFamily="34" charset="-120"/>
              </a:rPr>
              <a:t>}</a:t>
            </a:r>
            <a:endParaRPr lang="en-US" sz="1700" dirty="0"/>
          </a:p>
        </p:txBody>
      </p:sp>
      <p:sp>
        <p:nvSpPr>
          <p:cNvPr id="10" name="Text 8"/>
          <p:cNvSpPr/>
          <p:nvPr/>
        </p:nvSpPr>
        <p:spPr>
          <a:xfrm>
            <a:off x="6457789" y="2153886"/>
            <a:ext cx="5511662" cy="446969"/>
          </a:xfrm>
          <a:prstGeom prst="rect">
            <a:avLst/>
          </a:prstGeom>
          <a:noFill/>
          <a:ln/>
        </p:spPr>
        <p:txBody>
          <a:bodyPr wrap="none" lIns="0" tIns="0" rIns="0" bIns="0" rtlCol="0" anchor="t"/>
          <a:lstStyle/>
          <a:p>
            <a:pPr algn="l" indent="0" marL="0">
              <a:lnSpc>
                <a:spcPts val="3520"/>
              </a:lnSpc>
              <a:buNone/>
            </a:pPr>
            <a:r>
              <a:rPr lang="en-US" sz="3200" b="1" dirty="0">
                <a:solidFill>
                  <a:srgbClr val="3CC7BD"/>
                </a:solidFill>
                <a:latin typeface="Arial" pitchFamily="34" charset="0"/>
                <a:ea typeface="Arial" pitchFamily="34" charset="-122"/>
                <a:cs typeface="Arial" pitchFamily="34" charset="-120"/>
              </a:rPr>
              <a:t>90 · 75 · 60 · 45 · 30</a:t>
            </a:r>
            <a:endParaRPr lang="en-US" sz="3200" dirty="0"/>
          </a:p>
        </p:txBody>
      </p:sp>
      <p:sp>
        <p:nvSpPr>
          <p:cNvPr id="11" name="Text 9"/>
          <p:cNvSpPr/>
          <p:nvPr/>
        </p:nvSpPr>
        <p:spPr>
          <a:xfrm>
            <a:off x="6457789" y="2727852"/>
            <a:ext cx="5093366" cy="604426"/>
          </a:xfrm>
          <a:prstGeom prst="rect">
            <a:avLst/>
          </a:prstGeom>
          <a:noFill/>
          <a:ln/>
        </p:spPr>
        <p:txBody>
          <a:bodyPr wrap="square" lIns="0" tIns="0" rIns="0" bIns="0" rtlCol="0" anchor="t"/>
          <a:lstStyle/>
          <a:p>
            <a:pPr algn="l" indent="0" marL="0">
              <a:lnSpc>
                <a:spcPts val="2380"/>
              </a:lnSpc>
              <a:buNone/>
            </a:pPr>
            <a:r>
              <a:rPr lang="en-US" sz="1700" dirty="0">
                <a:solidFill>
                  <a:srgbClr val="B7C4D1"/>
                </a:solidFill>
                <a:latin typeface="Arial" pitchFamily="34" charset="0"/>
                <a:ea typeface="Arial" pitchFamily="34" charset="-122"/>
                <a:cs typeface="Arial" pitchFamily="34" charset="-120"/>
              </a:rPr>
              <a:t>A variable is a labelled box holding a number. A loop says: do this again.</a:t>
            </a:r>
            <a:endParaRPr lang="en-US" sz="1700" dirty="0"/>
          </a:p>
        </p:txBody>
      </p:sp>
      <p:sp>
        <p:nvSpPr>
          <p:cNvPr id="12" name="Text 10"/>
          <p:cNvSpPr/>
          <p:nvPr/>
        </p:nvSpPr>
        <p:spPr>
          <a:xfrm>
            <a:off x="6457789" y="3459274"/>
            <a:ext cx="5093366" cy="533387"/>
          </a:xfrm>
          <a:prstGeom prst="rect">
            <a:avLst/>
          </a:prstGeom>
          <a:noFill/>
          <a:ln/>
        </p:spPr>
        <p:txBody>
          <a:bodyPr wrap="square" lIns="0" tIns="0" rIns="0" bIns="0" rtlCol="0" anchor="t"/>
          <a:lstStyle/>
          <a:p>
            <a:pPr algn="l" indent="0" marL="0">
              <a:lnSpc>
                <a:spcPts val="2100"/>
              </a:lnSpc>
              <a:buNone/>
            </a:pPr>
            <a:r>
              <a:rPr lang="en-US" sz="1500" dirty="0">
                <a:solidFill>
                  <a:srgbClr val="FFB35C"/>
                </a:solidFill>
                <a:latin typeface="Arial" pitchFamily="34" charset="0"/>
                <a:ea typeface="Arial" pitchFamily="34" charset="-122"/>
                <a:cs typeface="Arial" pitchFamily="34" charset="-120"/>
              </a:rPr>
              <a:t>Spreadsheet link: it is like dragging a formula down a column.</a:t>
            </a:r>
            <a:endParaRPr lang="en-US" sz="1500" dirty="0"/>
          </a:p>
        </p:txBody>
      </p:sp>
      <p:sp>
        <p:nvSpPr>
          <p:cNvPr id="13" name="Text 11"/>
          <p:cNvSpPr/>
          <p:nvPr/>
        </p:nvSpPr>
        <p:spPr>
          <a:xfrm>
            <a:off x="812780" y="6273643"/>
            <a:ext cx="3187985"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Expected rating after the first run: 99 / 100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3CC7BD"/>
        </a:solidFill>
      </p:bgPr>
    </p:bg>
    <p:spTree>
      <p:nvGrpSpPr>
        <p:cNvPr id="1" name=""/>
        <p:cNvGrpSpPr/>
        <p:nvPr/>
      </p:nvGrpSpPr>
      <p:grpSpPr>
        <a:xfrm>
          <a:off x="0" y="0"/>
          <a:ext cx="0" cy="0"/>
          <a:chOff x="0" y="0"/>
          <a:chExt cx="0" cy="0"/>
        </a:xfrm>
      </p:grpSpPr>
      <p:sp>
        <p:nvSpPr>
          <p:cNvPr id="2" name="Text 0"/>
          <p:cNvSpPr/>
          <p:nvPr/>
        </p:nvSpPr>
        <p:spPr>
          <a:xfrm>
            <a:off x="812780" y="962695"/>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04211F"/>
                </a:solidFill>
                <a:latin typeface="Arial" pitchFamily="34" charset="0"/>
                <a:ea typeface="Arial" pitchFamily="34" charset="-122"/>
                <a:cs typeface="Arial" pitchFamily="34" charset="-120"/>
              </a:rPr>
              <a:t>THE REVEAL</a:t>
            </a:r>
            <a:endParaRPr lang="en-US" sz="1400" dirty="0"/>
          </a:p>
        </p:txBody>
      </p:sp>
      <p:sp>
        <p:nvSpPr>
          <p:cNvPr id="3" name="Text 1"/>
          <p:cNvSpPr/>
          <p:nvPr/>
        </p:nvSpPr>
        <p:spPr>
          <a:xfrm>
            <a:off x="812780" y="1445283"/>
            <a:ext cx="10935951" cy="2819330"/>
          </a:xfrm>
          <a:prstGeom prst="rect">
            <a:avLst/>
          </a:prstGeom>
          <a:noFill/>
          <a:ln/>
        </p:spPr>
        <p:txBody>
          <a:bodyPr wrap="square" lIns="0" tIns="0" rIns="0" bIns="0" rtlCol="0" anchor="t"/>
          <a:lstStyle/>
          <a:p>
            <a:pPr algn="l" indent="0" marL="0">
              <a:lnSpc>
                <a:spcPts val="7400"/>
              </a:lnSpc>
              <a:buNone/>
            </a:pPr>
            <a:r>
              <a:rPr lang="en-US" sz="7400" b="1" dirty="0">
                <a:solidFill>
                  <a:srgbClr val="04211F"/>
                </a:solidFill>
                <a:latin typeface="Arial" pitchFamily="34" charset="0"/>
                <a:ea typeface="Arial" pitchFamily="34" charset="-122"/>
                <a:cs typeface="Arial" pitchFamily="34" charset="-120"/>
              </a:rPr>
              <a:t>It is our own programming language.</a:t>
            </a:r>
            <a:endParaRPr lang="en-US" sz="7400" dirty="0"/>
          </a:p>
        </p:txBody>
      </p:sp>
      <p:sp>
        <p:nvSpPr>
          <p:cNvPr id="4" name="Text 2"/>
          <p:cNvSpPr/>
          <p:nvPr/>
        </p:nvSpPr>
        <p:spPr>
          <a:xfrm>
            <a:off x="812780" y="4544006"/>
            <a:ext cx="9200920" cy="754242"/>
          </a:xfrm>
          <a:prstGeom prst="rect">
            <a:avLst/>
          </a:prstGeom>
          <a:noFill/>
          <a:ln/>
        </p:spPr>
        <p:txBody>
          <a:bodyPr wrap="square" lIns="0" tIns="0" rIns="0" bIns="0" rtlCol="0" anchor="t"/>
          <a:lstStyle/>
          <a:p>
            <a:pPr algn="l" indent="0" marL="0">
              <a:lnSpc>
                <a:spcPts val="2970"/>
              </a:lnSpc>
              <a:buNone/>
            </a:pPr>
            <a:r>
              <a:rPr lang="en-US" sz="2200" dirty="0">
                <a:solidFill>
                  <a:srgbClr val="04211F"/>
                </a:solidFill>
                <a:latin typeface="Arial" pitchFamily="34" charset="0"/>
                <a:ea typeface="Arial" pitchFamily="34" charset="-122"/>
                <a:cs typeface="Arial" pitchFamily="34" charset="-120"/>
              </a:rPr>
              <a:t>LoomScript. Written by us. Nobody else in the world has it. You just used it.</a:t>
            </a:r>
            <a:endParaRPr lang="en-US" sz="2200" dirty="0"/>
          </a:p>
        </p:txBody>
      </p:sp>
      <p:sp>
        <p:nvSpPr>
          <p:cNvPr id="5" name="Text 3"/>
          <p:cNvSpPr/>
          <p:nvPr/>
        </p:nvSpPr>
        <p:spPr>
          <a:xfrm>
            <a:off x="812780" y="6273643"/>
            <a:ext cx="3503684" cy="177796"/>
          </a:xfrm>
          <a:prstGeom prst="rect">
            <a:avLst/>
          </a:prstGeom>
          <a:noFill/>
          <a:ln/>
        </p:spPr>
        <p:txBody>
          <a:bodyPr wrap="none" lIns="0" tIns="0" rIns="0" bIns="0" rtlCol="0" anchor="t"/>
          <a:lstStyle/>
          <a:p>
            <a:pPr algn="l" indent="0" marL="0">
              <a:lnSpc>
                <a:spcPts val="1560"/>
              </a:lnSpc>
              <a:buNone/>
            </a:pPr>
            <a:r>
              <a:rPr lang="en-US" sz="1200" dirty="0">
                <a:solidFill>
                  <a:srgbClr val="04211F"/>
                </a:solidFill>
                <a:latin typeface="Arial" pitchFamily="34" charset="0"/>
                <a:ea typeface="Arial" pitchFamily="34" charset="-122"/>
                <a:cs typeface="Arial" pitchFamily="34" charset="-120"/>
              </a:rPr>
              <a:t>Say it slowly. Then stay silent for five seconds.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8F9DFF"/>
                </a:solidFill>
                <a:latin typeface="Arial" pitchFamily="34" charset="0"/>
                <a:ea typeface="Arial" pitchFamily="34" charset="-122"/>
                <a:cs typeface="Arial" pitchFamily="34" charset="-120"/>
              </a:rPr>
              <a:t>LOOK AT THE REAL CODE TAB</a:t>
            </a:r>
            <a:endParaRPr lang="en-US" sz="1400" dirty="0"/>
          </a:p>
        </p:txBody>
      </p:sp>
      <p:sp>
        <p:nvSpPr>
          <p:cNvPr id="3" name="Text 1"/>
          <p:cNvSpPr/>
          <p:nvPr/>
        </p:nvSpPr>
        <p:spPr>
          <a:xfrm>
            <a:off x="812780" y="1269968"/>
            <a:ext cx="11834072" cy="533387"/>
          </a:xfrm>
          <a:prstGeom prst="rect">
            <a:avLst/>
          </a:prstGeom>
          <a:noFill/>
          <a:ln/>
        </p:spPr>
        <p:txBody>
          <a:bodyPr wrap="none" lIns="0" tIns="0" rIns="0" bIns="0" rtlCol="0" anchor="t"/>
          <a:lstStyle/>
          <a:p>
            <a:pPr algn="l" indent="0" marL="0">
              <a:lnSpc>
                <a:spcPts val="4200"/>
              </a:lnSpc>
              <a:buNone/>
            </a:pPr>
            <a:r>
              <a:rPr lang="en-US" sz="4000" b="1" dirty="0">
                <a:solidFill>
                  <a:srgbClr val="EEF2F6"/>
                </a:solidFill>
                <a:latin typeface="Arial" pitchFamily="34" charset="0"/>
                <a:ea typeface="Arial" pitchFamily="34" charset="-122"/>
                <a:cs typeface="Arial" pitchFamily="34" charset="-120"/>
              </a:rPr>
              <a:t>The language has its own rules</a:t>
            </a:r>
            <a:endParaRPr lang="en-US" sz="4000" dirty="0"/>
          </a:p>
        </p:txBody>
      </p:sp>
      <p:sp>
        <p:nvSpPr>
          <p:cNvPr id="4" name="Shape 2"/>
          <p:cNvSpPr/>
          <p:nvPr/>
        </p:nvSpPr>
        <p:spPr>
          <a:xfrm>
            <a:off x="812780" y="2057349"/>
            <a:ext cx="5175121" cy="1714457"/>
          </a:xfrm>
          <a:prstGeom prst="roundRect">
            <a:avLst>
              <a:gd name="adj" fmla="val 7407"/>
            </a:avLst>
          </a:prstGeom>
          <a:solidFill>
            <a:srgbClr val="16222D"/>
          </a:solidFill>
          <a:ln w="6350">
            <a:solidFill>
              <a:srgbClr val="26384A"/>
            </a:solidFill>
            <a:prstDash val="solid"/>
          </a:ln>
        </p:spPr>
      </p:sp>
      <p:sp>
        <p:nvSpPr>
          <p:cNvPr id="5" name="Text 3"/>
          <p:cNvSpPr/>
          <p:nvPr/>
        </p:nvSpPr>
        <p:spPr>
          <a:xfrm>
            <a:off x="1073123" y="2317692"/>
            <a:ext cx="5212966" cy="241294"/>
          </a:xfrm>
          <a:prstGeom prst="rect">
            <a:avLst/>
          </a:prstGeom>
          <a:noFill/>
          <a:ln/>
        </p:spPr>
        <p:txBody>
          <a:bodyPr wrap="none" lIns="0" tIns="0" rIns="0" bIns="0" rtlCol="0" anchor="t"/>
          <a:lstStyle/>
          <a:p>
            <a:pPr algn="l" indent="0" marL="0">
              <a:lnSpc>
                <a:spcPts val="2210"/>
              </a:lnSpc>
              <a:buNone/>
            </a:pPr>
            <a:r>
              <a:rPr lang="en-US" sz="1700" dirty="0">
                <a:solidFill>
                  <a:srgbClr val="3CC7BD"/>
                </a:solidFill>
                <a:latin typeface="Consolas" pitchFamily="34" charset="0"/>
                <a:ea typeface="Consolas" pitchFamily="34" charset="-122"/>
                <a:cs typeface="Consolas" pitchFamily="34" charset="-120"/>
              </a:rPr>
              <a:t>@engine: physics</a:t>
            </a:r>
            <a:endParaRPr lang="en-US" sz="1700" dirty="0"/>
          </a:p>
        </p:txBody>
      </p:sp>
      <p:sp>
        <p:nvSpPr>
          <p:cNvPr id="6" name="Text 4"/>
          <p:cNvSpPr/>
          <p:nvPr/>
        </p:nvSpPr>
        <p:spPr>
          <a:xfrm>
            <a:off x="1073123" y="2635184"/>
            <a:ext cx="5212966" cy="241294"/>
          </a:xfrm>
          <a:prstGeom prst="rect">
            <a:avLst/>
          </a:prstGeom>
          <a:noFill/>
          <a:ln/>
        </p:spPr>
        <p:txBody>
          <a:bodyPr wrap="none" lIns="0" tIns="0" rIns="0" bIns="0" rtlCol="0" anchor="t"/>
          <a:lstStyle/>
          <a:p>
            <a:pPr algn="l" indent="0" marL="0">
              <a:lnSpc>
                <a:spcPts val="2210"/>
              </a:lnSpc>
              <a:buNone/>
            </a:pPr>
            <a:r>
              <a:rPr lang="en-US" sz="1700" dirty="0">
                <a:solidFill>
                  <a:srgbClr val="EEF2F6"/>
                </a:solidFill>
                <a:latin typeface="Consolas" pitchFamily="34" charset="0"/>
                <a:ea typeface="Consolas" pitchFamily="34" charset="-122"/>
                <a:cs typeface="Consolas" pitchFamily="34" charset="-120"/>
              </a:rPr>
              <a:t>on start:</a:t>
            </a:r>
            <a:endParaRPr lang="en-US" sz="1700" dirty="0"/>
          </a:p>
        </p:txBody>
      </p:sp>
      <p:sp>
        <p:nvSpPr>
          <p:cNvPr id="7" name="Text 5"/>
          <p:cNvSpPr/>
          <p:nvPr/>
        </p:nvSpPr>
        <p:spPr>
          <a:xfrm>
            <a:off x="1073123" y="2952676"/>
            <a:ext cx="5212966" cy="241294"/>
          </a:xfrm>
          <a:prstGeom prst="rect">
            <a:avLst/>
          </a:prstGeom>
          <a:noFill/>
          <a:ln/>
        </p:spPr>
        <p:txBody>
          <a:bodyPr wrap="none" lIns="0" tIns="0" rIns="0" bIns="0" rtlCol="0" anchor="t"/>
          <a:lstStyle/>
          <a:p>
            <a:pPr algn="l" indent="0" marL="0">
              <a:lnSpc>
                <a:spcPts val="2210"/>
              </a:lnSpc>
              <a:buNone/>
            </a:pPr>
            <a:r>
              <a:rPr lang="en-US" sz="1700" dirty="0">
                <a:solidFill>
                  <a:srgbClr val="EEF2F6"/>
                </a:solidFill>
                <a:latin typeface="Consolas" pitchFamily="34" charset="0"/>
                <a:ea typeface="Consolas" pitchFamily="34" charset="-122"/>
                <a:cs typeface="Consolas" pitchFamily="34" charset="-120"/>
              </a:rPr>
              <a:t>set gravity = 9.8</a:t>
            </a:r>
            <a:endParaRPr lang="en-US" sz="1700" dirty="0"/>
          </a:p>
        </p:txBody>
      </p:sp>
      <p:sp>
        <p:nvSpPr>
          <p:cNvPr id="8" name="Text 6"/>
          <p:cNvSpPr/>
          <p:nvPr/>
        </p:nvSpPr>
        <p:spPr>
          <a:xfrm>
            <a:off x="1073123" y="3270168"/>
            <a:ext cx="5212966" cy="241294"/>
          </a:xfrm>
          <a:prstGeom prst="rect">
            <a:avLst/>
          </a:prstGeom>
          <a:noFill/>
          <a:ln/>
        </p:spPr>
        <p:txBody>
          <a:bodyPr wrap="none" lIns="0" tIns="0" rIns="0" bIns="0" rtlCol="0" anchor="t"/>
          <a:lstStyle/>
          <a:p>
            <a:pPr algn="l" indent="0" marL="0">
              <a:lnSpc>
                <a:spcPts val="2210"/>
              </a:lnSpc>
              <a:buNone/>
            </a:pPr>
            <a:r>
              <a:rPr lang="en-US" sz="1700" dirty="0">
                <a:solidFill>
                  <a:srgbClr val="EEF2F6"/>
                </a:solidFill>
                <a:latin typeface="Consolas" pitchFamily="34" charset="0"/>
                <a:ea typeface="Consolas" pitchFamily="34" charset="-122"/>
                <a:cs typeface="Consolas" pitchFamily="34" charset="-120"/>
              </a:rPr>
              <a:t>trackPoint(80)</a:t>
            </a:r>
            <a:endParaRPr lang="en-US" sz="1700" dirty="0"/>
          </a:p>
        </p:txBody>
      </p:sp>
      <p:sp>
        <p:nvSpPr>
          <p:cNvPr id="9" name="Shape 7"/>
          <p:cNvSpPr/>
          <p:nvPr/>
        </p:nvSpPr>
        <p:spPr>
          <a:xfrm>
            <a:off x="6191095" y="2057349"/>
            <a:ext cx="5187820" cy="1714457"/>
          </a:xfrm>
          <a:prstGeom prst="roundRect">
            <a:avLst>
              <a:gd name="adj" fmla="val 7407"/>
            </a:avLst>
          </a:prstGeom>
          <a:solidFill>
            <a:srgbClr val="2B2110"/>
          </a:solidFill>
          <a:ln w="12700">
            <a:solidFill>
              <a:srgbClr val="FFB35C"/>
            </a:solidFill>
            <a:prstDash val="solid"/>
          </a:ln>
        </p:spPr>
      </p:sp>
      <p:sp>
        <p:nvSpPr>
          <p:cNvPr id="10" name="Text 8"/>
          <p:cNvSpPr/>
          <p:nvPr/>
        </p:nvSpPr>
        <p:spPr>
          <a:xfrm>
            <a:off x="6457789" y="2324042"/>
            <a:ext cx="5212966" cy="196845"/>
          </a:xfrm>
          <a:prstGeom prst="rect">
            <a:avLst/>
          </a:prstGeom>
          <a:noFill/>
          <a:ln/>
        </p:spPr>
        <p:txBody>
          <a:bodyPr wrap="none" lIns="0" tIns="0" rIns="0" bIns="0" rtlCol="0" anchor="t"/>
          <a:lstStyle/>
          <a:p>
            <a:pPr algn="l" indent="0" marL="0">
              <a:lnSpc>
                <a:spcPts val="1690"/>
              </a:lnSpc>
              <a:buNone/>
            </a:pPr>
            <a:r>
              <a:rPr lang="en-US" sz="1300" b="1" spc="100" kern="0" dirty="0">
                <a:solidFill>
                  <a:srgbClr val="FFB35C"/>
                </a:solidFill>
                <a:latin typeface="Arial" pitchFamily="34" charset="0"/>
                <a:ea typeface="Arial" pitchFamily="34" charset="-122"/>
                <a:cs typeface="Arial" pitchFamily="34" charset="-120"/>
              </a:rPr>
              <a:t>CHOOSE CHEMISTRY. PRESS RUN.</a:t>
            </a:r>
            <a:endParaRPr lang="en-US" sz="1300" dirty="0"/>
          </a:p>
        </p:txBody>
      </p:sp>
      <p:sp>
        <p:nvSpPr>
          <p:cNvPr id="11" name="Text 9"/>
          <p:cNvSpPr/>
          <p:nvPr/>
        </p:nvSpPr>
        <p:spPr>
          <a:xfrm>
            <a:off x="6457789" y="2622484"/>
            <a:ext cx="4817339" cy="800080"/>
          </a:xfrm>
          <a:prstGeom prst="rect">
            <a:avLst/>
          </a:prstGeom>
          <a:noFill/>
          <a:ln/>
        </p:spPr>
        <p:txBody>
          <a:bodyPr wrap="square" lIns="0" tIns="0" rIns="0" bIns="0" rtlCol="0" anchor="t"/>
          <a:lstStyle/>
          <a:p>
            <a:pPr algn="l" indent="0" marL="0">
              <a:lnSpc>
                <a:spcPts val="2100"/>
              </a:lnSpc>
              <a:buNone/>
            </a:pPr>
            <a:r>
              <a:rPr lang="en-US" sz="1500" dirty="0">
                <a:solidFill>
                  <a:srgbClr val="EEF2F6"/>
                </a:solidFill>
                <a:latin typeface="Consolas" pitchFamily="34" charset="0"/>
                <a:ea typeface="Consolas" pitchFamily="34" charset="-122"/>
                <a:cs typeface="Consolas" pitchFamily="34" charset="-120"/>
              </a:rPr>
              <a:t>"trackPoint()" belongs to the "physics" engine, but this program only declared: chemistry.</a:t>
            </a:r>
            <a:endParaRPr lang="en-US" sz="1500" dirty="0"/>
          </a:p>
        </p:txBody>
      </p:sp>
      <p:sp>
        <p:nvSpPr>
          <p:cNvPr id="12" name="Text 10"/>
          <p:cNvSpPr/>
          <p:nvPr/>
        </p:nvSpPr>
        <p:spPr>
          <a:xfrm>
            <a:off x="812780" y="6273643"/>
            <a:ext cx="7751442"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A real rule, checked by a real language. Banks build small languages like this for trading and risk rules.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22D"/>
        </a:solidFill>
      </p:bgPr>
    </p:bg>
    <p:spTree>
      <p:nvGrpSpPr>
        <p:cNvPr id="1" name=""/>
        <p:cNvGrpSpPr/>
        <p:nvPr/>
      </p:nvGrpSpPr>
      <p:grpSpPr>
        <a:xfrm>
          <a:off x="0" y="0"/>
          <a:ext cx="0" cy="0"/>
          <a:chOff x="0" y="0"/>
          <a:chExt cx="0" cy="0"/>
        </a:xfrm>
      </p:grpSpPr>
      <p:sp>
        <p:nvSpPr>
          <p:cNvPr id="2" name="Text 0"/>
          <p:cNvSpPr/>
          <p:nvPr/>
        </p:nvSpPr>
        <p:spPr>
          <a:xfrm>
            <a:off x="812780" y="2357676"/>
            <a:ext cx="11834072" cy="939777"/>
          </a:xfrm>
          <a:prstGeom prst="rect">
            <a:avLst/>
          </a:prstGeom>
          <a:noFill/>
          <a:ln/>
        </p:spPr>
        <p:txBody>
          <a:bodyPr wrap="none" lIns="0" tIns="0" rIns="0" bIns="0" rtlCol="0" anchor="t"/>
          <a:lstStyle/>
          <a:p>
            <a:pPr algn="l" indent="0" marL="0">
              <a:lnSpc>
                <a:spcPts val="7400"/>
              </a:lnSpc>
              <a:buNone/>
            </a:pPr>
            <a:r>
              <a:rPr lang="en-US" sz="7400" b="1" dirty="0">
                <a:solidFill>
                  <a:srgbClr val="EEF2F6"/>
                </a:solidFill>
                <a:latin typeface="Arial" pitchFamily="34" charset="0"/>
                <a:ea typeface="Arial" pitchFamily="34" charset="-122"/>
                <a:cs typeface="Arial" pitchFamily="34" charset="-120"/>
              </a:rPr>
              <a:t>Stand. Stretch. Water.</a:t>
            </a:r>
            <a:endParaRPr lang="en-US" sz="7400" dirty="0"/>
          </a:p>
        </p:txBody>
      </p:sp>
      <p:sp>
        <p:nvSpPr>
          <p:cNvPr id="3" name="Text 1"/>
          <p:cNvSpPr/>
          <p:nvPr/>
        </p:nvSpPr>
        <p:spPr>
          <a:xfrm>
            <a:off x="812780" y="3551446"/>
            <a:ext cx="9245369" cy="377121"/>
          </a:xfrm>
          <a:prstGeom prst="rect">
            <a:avLst/>
          </a:prstGeom>
          <a:noFill/>
          <a:ln/>
        </p:spPr>
        <p:txBody>
          <a:bodyPr wrap="none" lIns="0" tIns="0" rIns="0" bIns="0" rtlCol="0" anchor="t"/>
          <a:lstStyle/>
          <a:p>
            <a:pPr algn="l" indent="0" marL="0">
              <a:lnSpc>
                <a:spcPts val="2970"/>
              </a:lnSpc>
              <a:buNone/>
            </a:pPr>
            <a:r>
              <a:rPr lang="en-US" sz="2200" dirty="0">
                <a:solidFill>
                  <a:srgbClr val="B7C4D1"/>
                </a:solidFill>
                <a:latin typeface="Arial" pitchFamily="34" charset="0"/>
                <a:ea typeface="Arial" pitchFamily="34" charset="-122"/>
                <a:cs typeface="Arial" pitchFamily="34" charset="-120"/>
              </a:rPr>
              <a:t>Next: The Vault. One question from anyone first?</a:t>
            </a:r>
            <a:endParaRPr lang="en-US" sz="2200" dirty="0"/>
          </a:p>
        </p:txBody>
      </p:sp>
      <p:sp>
        <p:nvSpPr>
          <p:cNvPr id="4" name="Text 2"/>
          <p:cNvSpPr/>
          <p:nvPr/>
        </p:nvSpPr>
        <p:spPr>
          <a:xfrm>
            <a:off x="812780" y="6273643"/>
            <a:ext cx="3848718" cy="177796"/>
          </a:xfrm>
          <a:prstGeom prst="rect">
            <a:avLst/>
          </a:prstGeom>
          <a:noFill/>
          <a:ln/>
        </p:spPr>
        <p:txBody>
          <a:bodyPr wrap="none" lIns="0" tIns="0" rIns="0" bIns="0" rtlCol="0" anchor="t"/>
          <a:lstStyle/>
          <a:p>
            <a:pPr algn="l" indent="0" marL="0">
              <a:lnSpc>
                <a:spcPts val="1560"/>
              </a:lnSpc>
              <a:buNone/>
            </a:pPr>
            <a:r>
              <a:rPr lang="en-US" sz="1200" dirty="0">
                <a:solidFill>
                  <a:srgbClr val="8FA3B5"/>
                </a:solidFill>
                <a:latin typeface="Arial" pitchFamily="34" charset="0"/>
                <a:ea typeface="Arial" pitchFamily="34" charset="-122"/>
                <a:cs typeface="Arial" pitchFamily="34" charset="-120"/>
              </a:rPr>
              <a:t>Helpers: switch every laptop to 03 Vault, sound low</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8F9DFF"/>
                </a:solidFill>
                <a:latin typeface="Arial" pitchFamily="34" charset="0"/>
                <a:ea typeface="Arial" pitchFamily="34" charset="-122"/>
                <a:cs typeface="Arial" pitchFamily="34" charset="-120"/>
              </a:rPr>
              <a:t>THE VAULT</a:t>
            </a:r>
            <a:endParaRPr lang="en-US" sz="1400" dirty="0"/>
          </a:p>
        </p:txBody>
      </p:sp>
      <p:sp>
        <p:nvSpPr>
          <p:cNvPr id="3" name="Text 1"/>
          <p:cNvSpPr/>
          <p:nvPr/>
        </p:nvSpPr>
        <p:spPr>
          <a:xfrm>
            <a:off x="812780" y="1269968"/>
            <a:ext cx="10935951" cy="1066773"/>
          </a:xfrm>
          <a:prstGeom prst="rect">
            <a:avLst/>
          </a:prstGeom>
          <a:noFill/>
          <a:ln/>
        </p:spPr>
        <p:txBody>
          <a:bodyPr wrap="square" lIns="0" tIns="0" rIns="0" bIns="0" rtlCol="0" anchor="t"/>
          <a:lstStyle/>
          <a:p>
            <a:pPr algn="l" indent="0" marL="0">
              <a:lnSpc>
                <a:spcPts val="4200"/>
              </a:lnSpc>
              <a:buNone/>
            </a:pPr>
            <a:r>
              <a:rPr lang="en-US" sz="4000" b="1" dirty="0">
                <a:solidFill>
                  <a:srgbClr val="EEF2F6"/>
                </a:solidFill>
                <a:latin typeface="Arial" pitchFamily="34" charset="0"/>
                <a:ea typeface="Arial" pitchFamily="34" charset="-122"/>
                <a:cs typeface="Arial" pitchFamily="34" charset="-120"/>
              </a:rPr>
              <a:t>You wake up in a vault basement. You have six minutes.</a:t>
            </a:r>
            <a:endParaRPr lang="en-US" sz="4000" dirty="0"/>
          </a:p>
        </p:txBody>
      </p:sp>
      <p:sp>
        <p:nvSpPr>
          <p:cNvPr id="4" name="Text 2"/>
          <p:cNvSpPr/>
          <p:nvPr/>
        </p:nvSpPr>
        <p:spPr>
          <a:xfrm>
            <a:off x="1117572" y="2590735"/>
            <a:ext cx="11492705" cy="349837"/>
          </a:xfrm>
          <a:prstGeom prst="rect">
            <a:avLst/>
          </a:prstGeom>
          <a:noFill/>
          <a:ln/>
        </p:spPr>
        <p:txBody>
          <a:bodyPr wrap="none" lIns="0" tIns="0" rIns="0" bIns="0" rtlCol="0" anchor="t"/>
          <a:lstStyle/>
          <a:p>
            <a:pPr algn="l" indent="0" marL="0">
              <a:lnSpc>
                <a:spcPts val="2760"/>
              </a:lnSpc>
              <a:buNone/>
            </a:pPr>
            <a:r>
              <a:rPr lang="en-US" sz="1900" dirty="0">
                <a:solidFill>
                  <a:srgbClr val="B7C4D1"/>
                </a:solidFill>
                <a:latin typeface="Arial" pitchFamily="34" charset="0"/>
                <a:ea typeface="Arial" pitchFamily="34" charset="-122"/>
                <a:cs typeface="Arial" pitchFamily="34" charset="-120"/>
              </a:rPr>
              <a:t>• </a:t>
            </a:r>
            <a:pPr algn="l" indent="0" marL="0">
              <a:lnSpc>
                <a:spcPts val="2760"/>
              </a:lnSpc>
              <a:buNone/>
            </a:pPr>
            <a:r>
              <a:rPr lang="en-US" sz="1900" dirty="0">
                <a:solidFill>
                  <a:srgbClr val="B7C4D1"/>
                </a:solidFill>
                <a:latin typeface="Arial" pitchFamily="34" charset="0"/>
                <a:ea typeface="Arial" pitchFamily="34" charset="-122"/>
                <a:cs typeface="Arial" pitchFamily="34" charset="-120"/>
              </a:rPr>
              <a:t>Crack the cipher</a:t>
            </a:r>
            <a:endParaRPr lang="en-US" sz="1900" dirty="0"/>
          </a:p>
        </p:txBody>
      </p:sp>
      <p:sp>
        <p:nvSpPr>
          <p:cNvPr id="5" name="Text 3"/>
          <p:cNvSpPr/>
          <p:nvPr/>
        </p:nvSpPr>
        <p:spPr>
          <a:xfrm>
            <a:off x="1117572" y="2940572"/>
            <a:ext cx="11492705" cy="349837"/>
          </a:xfrm>
          <a:prstGeom prst="rect">
            <a:avLst/>
          </a:prstGeom>
          <a:noFill/>
          <a:ln/>
        </p:spPr>
        <p:txBody>
          <a:bodyPr wrap="none" lIns="0" tIns="0" rIns="0" bIns="0" rtlCol="0" anchor="t"/>
          <a:lstStyle/>
          <a:p>
            <a:pPr algn="l" indent="0" marL="0">
              <a:lnSpc>
                <a:spcPts val="2760"/>
              </a:lnSpc>
              <a:buNone/>
            </a:pPr>
            <a:r>
              <a:rPr lang="en-US" sz="1900" dirty="0">
                <a:solidFill>
                  <a:srgbClr val="B7C4D1"/>
                </a:solidFill>
                <a:latin typeface="Arial" pitchFamily="34" charset="0"/>
                <a:ea typeface="Arial" pitchFamily="34" charset="-122"/>
                <a:cs typeface="Arial" pitchFamily="34" charset="-120"/>
              </a:rPr>
              <a:t>• </a:t>
            </a:r>
            <a:pPr algn="l" indent="0" marL="0">
              <a:lnSpc>
                <a:spcPts val="2760"/>
              </a:lnSpc>
              <a:buNone/>
            </a:pPr>
            <a:r>
              <a:rPr lang="en-US" sz="1900" dirty="0">
                <a:solidFill>
                  <a:srgbClr val="B7C4D1"/>
                </a:solidFill>
                <a:latin typeface="Arial" pitchFamily="34" charset="0"/>
                <a:ea typeface="Arial" pitchFamily="34" charset="-122"/>
                <a:cs typeface="Arial" pitchFamily="34" charset="-120"/>
              </a:rPr>
              <a:t>Open three doors</a:t>
            </a:r>
            <a:endParaRPr lang="en-US" sz="1900" dirty="0"/>
          </a:p>
        </p:txBody>
      </p:sp>
      <p:sp>
        <p:nvSpPr>
          <p:cNvPr id="6" name="Text 4"/>
          <p:cNvSpPr/>
          <p:nvPr/>
        </p:nvSpPr>
        <p:spPr>
          <a:xfrm>
            <a:off x="1117572" y="3290408"/>
            <a:ext cx="11492705" cy="349837"/>
          </a:xfrm>
          <a:prstGeom prst="rect">
            <a:avLst/>
          </a:prstGeom>
          <a:noFill/>
          <a:ln/>
        </p:spPr>
        <p:txBody>
          <a:bodyPr wrap="none" lIns="0" tIns="0" rIns="0" bIns="0" rtlCol="0" anchor="t"/>
          <a:lstStyle/>
          <a:p>
            <a:pPr algn="l" indent="0" marL="0">
              <a:lnSpc>
                <a:spcPts val="2760"/>
              </a:lnSpc>
              <a:buNone/>
            </a:pPr>
            <a:r>
              <a:rPr lang="en-US" sz="1900" dirty="0">
                <a:solidFill>
                  <a:srgbClr val="B7C4D1"/>
                </a:solidFill>
                <a:latin typeface="Arial" pitchFamily="34" charset="0"/>
                <a:ea typeface="Arial" pitchFamily="34" charset="-122"/>
                <a:cs typeface="Arial" pitchFamily="34" charset="-120"/>
              </a:rPr>
              <a:t>• </a:t>
            </a:r>
            <a:pPr algn="l" indent="0" marL="0">
              <a:lnSpc>
                <a:spcPts val="2760"/>
              </a:lnSpc>
              <a:buNone/>
            </a:pPr>
            <a:r>
              <a:rPr lang="en-US" sz="1900" dirty="0">
                <a:solidFill>
                  <a:srgbClr val="B7C4D1"/>
                </a:solidFill>
                <a:latin typeface="Arial" pitchFamily="34" charset="0"/>
                <a:ea typeface="Arial" pitchFamily="34" charset="-122"/>
                <a:cs typeface="Arial" pitchFamily="34" charset="-120"/>
              </a:rPr>
              <a:t>Find the ledger that proves the fraud</a:t>
            </a:r>
            <a:endParaRPr lang="en-US" sz="1900" dirty="0"/>
          </a:p>
        </p:txBody>
      </p:sp>
      <p:sp>
        <p:nvSpPr>
          <p:cNvPr id="7" name="Shape 5"/>
          <p:cNvSpPr/>
          <p:nvPr/>
        </p:nvSpPr>
        <p:spPr>
          <a:xfrm>
            <a:off x="812780" y="3894239"/>
            <a:ext cx="10566136" cy="1087013"/>
          </a:xfrm>
          <a:prstGeom prst="roundRect">
            <a:avLst>
              <a:gd name="adj" fmla="val 11683"/>
            </a:avLst>
          </a:prstGeom>
          <a:solidFill>
            <a:srgbClr val="12332F"/>
          </a:solidFill>
          <a:ln w="12700">
            <a:solidFill>
              <a:srgbClr val="3CC7BD"/>
            </a:solidFill>
            <a:prstDash val="solid"/>
          </a:ln>
        </p:spPr>
      </p:sp>
      <p:sp>
        <p:nvSpPr>
          <p:cNvPr id="8" name="Text 6"/>
          <p:cNvSpPr/>
          <p:nvPr/>
        </p:nvSpPr>
        <p:spPr>
          <a:xfrm>
            <a:off x="1079473" y="4110133"/>
            <a:ext cx="11236679" cy="317492"/>
          </a:xfrm>
          <a:prstGeom prst="rect">
            <a:avLst/>
          </a:prstGeom>
          <a:noFill/>
          <a:ln/>
        </p:spPr>
        <p:txBody>
          <a:bodyPr wrap="none" lIns="0" tIns="0" rIns="0" bIns="0" rtlCol="0" anchor="t"/>
          <a:lstStyle/>
          <a:p>
            <a:pPr algn="l" indent="0" marL="0">
              <a:lnSpc>
                <a:spcPts val="2500"/>
              </a:lnSpc>
              <a:buNone/>
            </a:pPr>
            <a:r>
              <a:rPr lang="en-US" sz="2000" b="1" dirty="0">
                <a:solidFill>
                  <a:srgbClr val="EEF2F6"/>
                </a:solidFill>
                <a:latin typeface="Arial" pitchFamily="34" charset="0"/>
                <a:ea typeface="Arial" pitchFamily="34" charset="-122"/>
                <a:cs typeface="Arial" pitchFamily="34" charset="-120"/>
              </a:rPr>
              <a:t>The clock only moves when you guess wrong.</a:t>
            </a:r>
            <a:endParaRPr lang="en-US" sz="2000" dirty="0"/>
          </a:p>
        </p:txBody>
      </p:sp>
      <p:sp>
        <p:nvSpPr>
          <p:cNvPr id="9" name="Text 7"/>
          <p:cNvSpPr/>
          <p:nvPr/>
        </p:nvSpPr>
        <p:spPr>
          <a:xfrm>
            <a:off x="1079473" y="4491124"/>
            <a:ext cx="11236679" cy="274234"/>
          </a:xfrm>
          <a:prstGeom prst="rect">
            <a:avLst/>
          </a:prstGeom>
          <a:noFill/>
          <a:ln/>
        </p:spPr>
        <p:txBody>
          <a:bodyPr wrap="none" lIns="0" tIns="0" rIns="0" bIns="0" rtlCol="0" anchor="t"/>
          <a:lstStyle/>
          <a:p>
            <a:pPr algn="l" indent="0" marL="0">
              <a:lnSpc>
                <a:spcPts val="2160"/>
              </a:lnSpc>
              <a:buNone/>
            </a:pPr>
            <a:r>
              <a:rPr lang="en-US" sz="1600" dirty="0">
                <a:solidFill>
                  <a:srgbClr val="B7C4D1"/>
                </a:solidFill>
                <a:latin typeface="Arial" pitchFamily="34" charset="0"/>
                <a:ea typeface="Arial" pitchFamily="34" charset="-122"/>
                <a:cs typeface="Arial" pitchFamily="34" charset="-120"/>
              </a:rPr>
              <a:t>If it reaches zero, someone rescues you. You cannot lose.</a:t>
            </a:r>
            <a:endParaRPr lang="en-US" sz="1600" dirty="0"/>
          </a:p>
        </p:txBody>
      </p:sp>
      <p:sp>
        <p:nvSpPr>
          <p:cNvPr id="10" name="Text 8"/>
          <p:cNvSpPr/>
          <p:nvPr/>
        </p:nvSpPr>
        <p:spPr>
          <a:xfrm>
            <a:off x="812780" y="6273643"/>
            <a:ext cx="3355335"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Press The Heist. Not the red button. Not yet.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F2F6"/>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0A6E69"/>
                </a:solidFill>
                <a:latin typeface="Arial" pitchFamily="34" charset="0"/>
                <a:ea typeface="Arial" pitchFamily="34" charset="-122"/>
                <a:cs typeface="Arial" pitchFamily="34" charset="-120"/>
              </a:rPr>
              <a:t>YOU ARE OUT</a:t>
            </a:r>
            <a:endParaRPr lang="en-US" sz="1400" dirty="0"/>
          </a:p>
        </p:txBody>
      </p:sp>
      <p:sp>
        <p:nvSpPr>
          <p:cNvPr id="3" name="Text 1"/>
          <p:cNvSpPr/>
          <p:nvPr/>
        </p:nvSpPr>
        <p:spPr>
          <a:xfrm>
            <a:off x="812780" y="1269968"/>
            <a:ext cx="11834072" cy="506697"/>
          </a:xfrm>
          <a:prstGeom prst="rect">
            <a:avLst/>
          </a:prstGeom>
          <a:noFill/>
          <a:ln/>
        </p:spPr>
        <p:txBody>
          <a:bodyPr wrap="none" lIns="0" tIns="0" rIns="0" bIns="0" rtlCol="0" anchor="t"/>
          <a:lstStyle/>
          <a:p>
            <a:pPr algn="l" indent="0" marL="0">
              <a:lnSpc>
                <a:spcPts val="3990"/>
              </a:lnSpc>
              <a:buNone/>
            </a:pPr>
            <a:r>
              <a:rPr lang="en-US" sz="3800" b="1" dirty="0">
                <a:solidFill>
                  <a:srgbClr val="14202B"/>
                </a:solidFill>
                <a:latin typeface="Arial" pitchFamily="34" charset="0"/>
                <a:ea typeface="Arial" pitchFamily="34" charset="-122"/>
                <a:cs typeface="Arial" pitchFamily="34" charset="-120"/>
              </a:rPr>
              <a:t>Five ideas, all used tonight</a:t>
            </a:r>
            <a:endParaRPr lang="en-US" sz="3800" dirty="0"/>
          </a:p>
        </p:txBody>
      </p:sp>
      <p:sp>
        <p:nvSpPr>
          <p:cNvPr id="4" name="Text 2"/>
          <p:cNvSpPr/>
          <p:nvPr/>
        </p:nvSpPr>
        <p:spPr>
          <a:xfrm>
            <a:off x="914377" y="2106857"/>
            <a:ext cx="2139214" cy="215895"/>
          </a:xfrm>
          <a:prstGeom prst="rect">
            <a:avLst/>
          </a:prstGeom>
          <a:noFill/>
          <a:ln/>
        </p:spPr>
        <p:txBody>
          <a:bodyPr wrap="none" lIns="0" tIns="0" rIns="0" bIns="0" rtlCol="0" anchor="t"/>
          <a:lstStyle/>
          <a:p>
            <a:pPr algn="l" indent="0" marL="0">
              <a:lnSpc>
                <a:spcPts val="1950"/>
              </a:lnSpc>
              <a:buNone/>
            </a:pPr>
            <a:r>
              <a:rPr lang="en-US" sz="1500" b="1" dirty="0">
                <a:solidFill>
                  <a:srgbClr val="14202B"/>
                </a:solidFill>
                <a:latin typeface="Arial" pitchFamily="34" charset="0"/>
                <a:ea typeface="Arial" pitchFamily="34" charset="-122"/>
                <a:cs typeface="Arial" pitchFamily="34" charset="-120"/>
              </a:rPr>
              <a:t>Idea</a:t>
            </a:r>
            <a:endParaRPr lang="en-US" sz="1500" dirty="0"/>
          </a:p>
        </p:txBody>
      </p:sp>
      <p:sp>
        <p:nvSpPr>
          <p:cNvPr id="5" name="Text 3"/>
          <p:cNvSpPr/>
          <p:nvPr/>
        </p:nvSpPr>
        <p:spPr>
          <a:xfrm>
            <a:off x="3027584" y="2106857"/>
            <a:ext cx="4742696" cy="215895"/>
          </a:xfrm>
          <a:prstGeom prst="rect">
            <a:avLst/>
          </a:prstGeom>
          <a:noFill/>
          <a:ln/>
        </p:spPr>
        <p:txBody>
          <a:bodyPr wrap="none" lIns="0" tIns="0" rIns="0" bIns="0" rtlCol="0" anchor="t"/>
          <a:lstStyle/>
          <a:p>
            <a:pPr algn="l" indent="0" marL="0">
              <a:lnSpc>
                <a:spcPts val="1950"/>
              </a:lnSpc>
              <a:buNone/>
            </a:pPr>
            <a:r>
              <a:rPr lang="en-US" sz="1500" b="1" dirty="0">
                <a:solidFill>
                  <a:srgbClr val="14202B"/>
                </a:solidFill>
                <a:latin typeface="Arial" pitchFamily="34" charset="0"/>
                <a:ea typeface="Arial" pitchFamily="34" charset="-122"/>
                <a:cs typeface="Arial" pitchFamily="34" charset="-120"/>
              </a:rPr>
              <a:t>What you did</a:t>
            </a:r>
            <a:endParaRPr lang="en-US" sz="1500" dirty="0"/>
          </a:p>
        </p:txBody>
      </p:sp>
      <p:sp>
        <p:nvSpPr>
          <p:cNvPr id="6" name="Text 4"/>
          <p:cNvSpPr/>
          <p:nvPr/>
        </p:nvSpPr>
        <p:spPr>
          <a:xfrm>
            <a:off x="7465330" y="2106857"/>
            <a:ext cx="4269427" cy="215895"/>
          </a:xfrm>
          <a:prstGeom prst="rect">
            <a:avLst/>
          </a:prstGeom>
          <a:noFill/>
          <a:ln/>
        </p:spPr>
        <p:txBody>
          <a:bodyPr wrap="none" lIns="0" tIns="0" rIns="0" bIns="0" rtlCol="0" anchor="t"/>
          <a:lstStyle/>
          <a:p>
            <a:pPr algn="l" indent="0" marL="0">
              <a:lnSpc>
                <a:spcPts val="1950"/>
              </a:lnSpc>
              <a:buNone/>
            </a:pPr>
            <a:r>
              <a:rPr lang="en-US" sz="1500" b="1" dirty="0">
                <a:solidFill>
                  <a:srgbClr val="14202B"/>
                </a:solidFill>
                <a:latin typeface="Arial" pitchFamily="34" charset="0"/>
                <a:ea typeface="Arial" pitchFamily="34" charset="-122"/>
                <a:cs typeface="Arial" pitchFamily="34" charset="-120"/>
              </a:rPr>
              <a:t>Where it lives in banking</a:t>
            </a:r>
            <a:endParaRPr lang="en-US" sz="1500" dirty="0"/>
          </a:p>
        </p:txBody>
      </p:sp>
      <p:sp>
        <p:nvSpPr>
          <p:cNvPr id="7" name="Text 5"/>
          <p:cNvSpPr/>
          <p:nvPr/>
        </p:nvSpPr>
        <p:spPr>
          <a:xfrm>
            <a:off x="914377" y="2475148"/>
            <a:ext cx="2139214"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Variable</a:t>
            </a:r>
            <a:endParaRPr lang="en-US" sz="1500" dirty="0"/>
          </a:p>
        </p:txBody>
      </p:sp>
      <p:sp>
        <p:nvSpPr>
          <p:cNvPr id="8" name="Text 6"/>
          <p:cNvSpPr/>
          <p:nvPr/>
        </p:nvSpPr>
        <p:spPr>
          <a:xfrm>
            <a:off x="3027584" y="2475148"/>
            <a:ext cx="4742696"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Named a box: shift = 7</a:t>
            </a:r>
            <a:endParaRPr lang="en-US" sz="1500" dirty="0"/>
          </a:p>
        </p:txBody>
      </p:sp>
      <p:sp>
        <p:nvSpPr>
          <p:cNvPr id="9" name="Text 7"/>
          <p:cNvSpPr/>
          <p:nvPr/>
        </p:nvSpPr>
        <p:spPr>
          <a:xfrm>
            <a:off x="7465330" y="2475148"/>
            <a:ext cx="4269427"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An account balance</a:t>
            </a:r>
            <a:endParaRPr lang="en-US" sz="1500" dirty="0"/>
          </a:p>
        </p:txBody>
      </p:sp>
      <p:sp>
        <p:nvSpPr>
          <p:cNvPr id="10" name="Text 8"/>
          <p:cNvSpPr/>
          <p:nvPr/>
        </p:nvSpPr>
        <p:spPr>
          <a:xfrm>
            <a:off x="914377" y="2843439"/>
            <a:ext cx="2139214"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Until loop</a:t>
            </a:r>
            <a:endParaRPr lang="en-US" sz="1500" dirty="0"/>
          </a:p>
        </p:txBody>
      </p:sp>
      <p:sp>
        <p:nvSpPr>
          <p:cNvPr id="11" name="Text 9"/>
          <p:cNvSpPr/>
          <p:nvPr/>
        </p:nvSpPr>
        <p:spPr>
          <a:xfrm>
            <a:off x="3027584" y="2843439"/>
            <a:ext cx="4742696"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Kept trying until a word appeared</a:t>
            </a:r>
            <a:endParaRPr lang="en-US" sz="1500" dirty="0"/>
          </a:p>
        </p:txBody>
      </p:sp>
      <p:sp>
        <p:nvSpPr>
          <p:cNvPr id="12" name="Text 10"/>
          <p:cNvSpPr/>
          <p:nvPr/>
        </p:nvSpPr>
        <p:spPr>
          <a:xfrm>
            <a:off x="7465330" y="2843439"/>
            <a:ext cx="4269427"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Retry a payment until it clears</a:t>
            </a:r>
            <a:endParaRPr lang="en-US" sz="1500" dirty="0"/>
          </a:p>
        </p:txBody>
      </p:sp>
      <p:sp>
        <p:nvSpPr>
          <p:cNvPr id="13" name="Text 11"/>
          <p:cNvSpPr/>
          <p:nvPr/>
        </p:nvSpPr>
        <p:spPr>
          <a:xfrm>
            <a:off x="914377" y="3211730"/>
            <a:ext cx="2139214"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Counted loop</a:t>
            </a:r>
            <a:endParaRPr lang="en-US" sz="1500" dirty="0"/>
          </a:p>
        </p:txBody>
      </p:sp>
      <p:sp>
        <p:nvSpPr>
          <p:cNvPr id="14" name="Text 12"/>
          <p:cNvSpPr/>
          <p:nvPr/>
        </p:nvSpPr>
        <p:spPr>
          <a:xfrm>
            <a:off x="3027584" y="3211730"/>
            <a:ext cx="4742696"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Repeated 8 cycles for 64 boxes</a:t>
            </a:r>
            <a:endParaRPr lang="en-US" sz="1500" dirty="0"/>
          </a:p>
        </p:txBody>
      </p:sp>
      <p:sp>
        <p:nvSpPr>
          <p:cNvPr id="15" name="Text 13"/>
          <p:cNvSpPr/>
          <p:nvPr/>
        </p:nvSpPr>
        <p:spPr>
          <a:xfrm>
            <a:off x="7465330" y="3211730"/>
            <a:ext cx="4269427"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Run a check on every row</a:t>
            </a:r>
            <a:endParaRPr lang="en-US" sz="1500" dirty="0"/>
          </a:p>
        </p:txBody>
      </p:sp>
      <p:sp>
        <p:nvSpPr>
          <p:cNvPr id="16" name="Text 14"/>
          <p:cNvSpPr/>
          <p:nvPr/>
        </p:nvSpPr>
        <p:spPr>
          <a:xfrm>
            <a:off x="914377" y="3580021"/>
            <a:ext cx="2139214"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Conditional</a:t>
            </a:r>
            <a:endParaRPr lang="en-US" sz="1500" dirty="0"/>
          </a:p>
        </p:txBody>
      </p:sp>
      <p:sp>
        <p:nvSpPr>
          <p:cNvPr id="17" name="Text 15"/>
          <p:cNvSpPr/>
          <p:nvPr/>
        </p:nvSpPr>
        <p:spPr>
          <a:xfrm>
            <a:off x="3027584" y="3580021"/>
            <a:ext cx="4742696"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amount &gt; 10000 and country != "UK"</a:t>
            </a:r>
            <a:endParaRPr lang="en-US" sz="1500" dirty="0"/>
          </a:p>
        </p:txBody>
      </p:sp>
      <p:sp>
        <p:nvSpPr>
          <p:cNvPr id="18" name="Text 16"/>
          <p:cNvSpPr/>
          <p:nvPr/>
        </p:nvSpPr>
        <p:spPr>
          <a:xfrm>
            <a:off x="7465330" y="3580021"/>
            <a:ext cx="4269427"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A fraud flag rule</a:t>
            </a:r>
            <a:endParaRPr lang="en-US" sz="1500" dirty="0"/>
          </a:p>
        </p:txBody>
      </p:sp>
      <p:sp>
        <p:nvSpPr>
          <p:cNvPr id="19" name="Text 17"/>
          <p:cNvSpPr/>
          <p:nvPr/>
        </p:nvSpPr>
        <p:spPr>
          <a:xfrm>
            <a:off x="914377" y="3948311"/>
            <a:ext cx="2139214"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Search</a:t>
            </a:r>
            <a:endParaRPr lang="en-US" sz="1500" dirty="0"/>
          </a:p>
        </p:txBody>
      </p:sp>
      <p:sp>
        <p:nvSpPr>
          <p:cNvPr id="20" name="Text 18"/>
          <p:cNvSpPr/>
          <p:nvPr/>
        </p:nvSpPr>
        <p:spPr>
          <a:xfrm>
            <a:off x="3027584" y="3948311"/>
            <a:ext cx="4742696"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Checked one box at a time</a:t>
            </a:r>
            <a:endParaRPr lang="en-US" sz="1500" dirty="0"/>
          </a:p>
        </p:txBody>
      </p:sp>
      <p:sp>
        <p:nvSpPr>
          <p:cNvPr id="21" name="Text 19"/>
          <p:cNvSpPr/>
          <p:nvPr/>
        </p:nvSpPr>
        <p:spPr>
          <a:xfrm>
            <a:off x="7465330" y="3948311"/>
            <a:ext cx="4269427"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Finding one record in a huge list</a:t>
            </a:r>
            <a:endParaRPr lang="en-US" sz="1500" dirty="0"/>
          </a:p>
        </p:txBody>
      </p:sp>
      <p:sp>
        <p:nvSpPr>
          <p:cNvPr id="22" name="Text 20"/>
          <p:cNvSpPr/>
          <p:nvPr/>
        </p:nvSpPr>
        <p:spPr>
          <a:xfrm>
            <a:off x="812780" y="6273643"/>
            <a:ext cx="2514029" cy="177796"/>
          </a:xfrm>
          <a:prstGeom prst="rect">
            <a:avLst/>
          </a:prstGeom>
          <a:noFill/>
          <a:ln/>
        </p:spPr>
        <p:txBody>
          <a:bodyPr wrap="none" lIns="0" tIns="0" rIns="0" bIns="0" rtlCol="0" anchor="t"/>
          <a:lstStyle/>
          <a:p>
            <a:pPr algn="l" indent="0" marL="0">
              <a:lnSpc>
                <a:spcPts val="1560"/>
              </a:lnSpc>
              <a:buNone/>
            </a:pPr>
            <a:r>
              <a:rPr lang="en-US" sz="1200" dirty="0">
                <a:solidFill>
                  <a:srgbClr val="4F6073"/>
                </a:solidFill>
                <a:latin typeface="Arial" pitchFamily="34" charset="0"/>
                <a:ea typeface="Arial" pitchFamily="34" charset="-122"/>
                <a:cs typeface="Arial" pitchFamily="34" charset="-120"/>
              </a:rPr>
              <a:t>Quiz answers and certificate next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B35C"/>
        </a:solidFill>
      </p:bgPr>
    </p:bg>
    <p:spTree>
      <p:nvGrpSpPr>
        <p:cNvPr id="1" name=""/>
        <p:cNvGrpSpPr/>
        <p:nvPr/>
      </p:nvGrpSpPr>
      <p:grpSpPr>
        <a:xfrm>
          <a:off x="0" y="0"/>
          <a:ext cx="0" cy="0"/>
          <a:chOff x="0" y="0"/>
          <a:chExt cx="0" cy="0"/>
        </a:xfrm>
      </p:grpSpPr>
      <p:sp>
        <p:nvSpPr>
          <p:cNvPr id="2" name="Text 0"/>
          <p:cNvSpPr/>
          <p:nvPr/>
        </p:nvSpPr>
        <p:spPr>
          <a:xfrm>
            <a:off x="812780" y="1654134"/>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2A1600"/>
                </a:solidFill>
                <a:latin typeface="Arial" pitchFamily="34" charset="0"/>
                <a:ea typeface="Arial" pitchFamily="34" charset="-122"/>
                <a:cs typeface="Arial" pitchFamily="34" charset="-120"/>
              </a:rPr>
              <a:t>BEFORE WE FINISH</a:t>
            </a:r>
            <a:endParaRPr lang="en-US" sz="1400" dirty="0"/>
          </a:p>
        </p:txBody>
      </p:sp>
      <p:sp>
        <p:nvSpPr>
          <p:cNvPr id="3" name="Text 1"/>
          <p:cNvSpPr/>
          <p:nvPr/>
        </p:nvSpPr>
        <p:spPr>
          <a:xfrm>
            <a:off x="812780" y="2136722"/>
            <a:ext cx="10935951" cy="1777956"/>
          </a:xfrm>
          <a:prstGeom prst="rect">
            <a:avLst/>
          </a:prstGeom>
          <a:noFill/>
          <a:ln/>
        </p:spPr>
        <p:txBody>
          <a:bodyPr wrap="square" lIns="0" tIns="0" rIns="0" bIns="0" rtlCol="0" anchor="t"/>
          <a:lstStyle/>
          <a:p>
            <a:pPr algn="l" indent="0" marL="0">
              <a:lnSpc>
                <a:spcPts val="7000"/>
              </a:lnSpc>
              <a:buNone/>
            </a:pPr>
            <a:r>
              <a:rPr lang="en-US" sz="7000" b="1" dirty="0">
                <a:solidFill>
                  <a:srgbClr val="2A1600"/>
                </a:solidFill>
                <a:latin typeface="Arial" pitchFamily="34" charset="0"/>
                <a:ea typeface="Arial" pitchFamily="34" charset="-122"/>
                <a:cs typeface="Arial" pitchFamily="34" charset="-120"/>
              </a:rPr>
              <a:t>There is a red button. It says DO NOT PRESS.</a:t>
            </a:r>
            <a:endParaRPr lang="en-US" sz="7000" dirty="0"/>
          </a:p>
        </p:txBody>
      </p:sp>
      <p:sp>
        <p:nvSpPr>
          <p:cNvPr id="4" name="Text 2"/>
          <p:cNvSpPr/>
          <p:nvPr/>
        </p:nvSpPr>
        <p:spPr>
          <a:xfrm>
            <a:off x="812780" y="4194070"/>
            <a:ext cx="11834072" cy="412740"/>
          </a:xfrm>
          <a:prstGeom prst="rect">
            <a:avLst/>
          </a:prstGeom>
          <a:noFill/>
          <a:ln/>
        </p:spPr>
        <p:txBody>
          <a:bodyPr wrap="none" lIns="0" tIns="0" rIns="0" bIns="0" rtlCol="0" anchor="t"/>
          <a:lstStyle/>
          <a:p>
            <a:pPr algn="l" indent="0" marL="0">
              <a:lnSpc>
                <a:spcPts val="3640"/>
              </a:lnSpc>
              <a:buNone/>
            </a:pPr>
            <a:r>
              <a:rPr lang="en-US" sz="2800" b="1" dirty="0">
                <a:solidFill>
                  <a:srgbClr val="2A1600"/>
                </a:solidFill>
                <a:latin typeface="Arial" pitchFamily="34" charset="0"/>
                <a:ea typeface="Arial" pitchFamily="34" charset="-122"/>
                <a:cs typeface="Arial" pitchFamily="34" charset="-120"/>
              </a:rPr>
              <a:t>Not yet.</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3846416" y="1735392"/>
            <a:ext cx="4656323" cy="234944"/>
          </a:xfrm>
          <a:prstGeom prst="rect">
            <a:avLst/>
          </a:prstGeom>
          <a:noFill/>
          <a:ln/>
        </p:spPr>
        <p:txBody>
          <a:bodyPr wrap="none" lIns="0" tIns="0" rIns="0" bIns="0" rtlCol="0" anchor="t"/>
          <a:lstStyle/>
          <a:p>
            <a:pPr algn="ctr" indent="0" marL="0">
              <a:lnSpc>
                <a:spcPts val="2080"/>
              </a:lnSpc>
              <a:buNone/>
            </a:pPr>
            <a:r>
              <a:rPr lang="en-US" sz="1600" b="1" spc="200" kern="0" dirty="0">
                <a:solidFill>
                  <a:srgbClr val="3CC7BD"/>
                </a:solidFill>
                <a:latin typeface="Arial" pitchFamily="34" charset="0"/>
                <a:ea typeface="Arial" pitchFamily="34" charset="-122"/>
                <a:cs typeface="Arial" pitchFamily="34" charset="-120"/>
              </a:rPr>
              <a:t>EVERYONE. HANDS ON THE BUTTON.</a:t>
            </a:r>
            <a:endParaRPr lang="en-US" sz="1600" dirty="0"/>
          </a:p>
        </p:txBody>
      </p:sp>
      <p:sp>
        <p:nvSpPr>
          <p:cNvPr id="3" name="Text 1"/>
          <p:cNvSpPr/>
          <p:nvPr/>
        </p:nvSpPr>
        <p:spPr>
          <a:xfrm>
            <a:off x="2813773" y="2173531"/>
            <a:ext cx="6793894" cy="1904952"/>
          </a:xfrm>
          <a:prstGeom prst="rect">
            <a:avLst/>
          </a:prstGeom>
          <a:noFill/>
          <a:ln/>
        </p:spPr>
        <p:txBody>
          <a:bodyPr wrap="none" lIns="0" tIns="0" rIns="0" bIns="0" rtlCol="0" anchor="t"/>
          <a:lstStyle/>
          <a:p>
            <a:pPr algn="ctr" indent="0" marL="0">
              <a:lnSpc>
                <a:spcPts val="15000"/>
              </a:lnSpc>
              <a:buNone/>
            </a:pPr>
            <a:r>
              <a:rPr lang="en-US" sz="15000" b="1" dirty="0">
                <a:solidFill>
                  <a:srgbClr val="FFB35C"/>
                </a:solidFill>
                <a:latin typeface="Arial" pitchFamily="34" charset="0"/>
                <a:ea typeface="Arial" pitchFamily="34" charset="-122"/>
                <a:cs typeface="Arial" pitchFamily="34" charset="-120"/>
              </a:rPr>
              <a:t>3 · 2 · 1</a:t>
            </a:r>
            <a:endParaRPr lang="en-US" sz="15000" dirty="0"/>
          </a:p>
        </p:txBody>
      </p:sp>
      <p:sp>
        <p:nvSpPr>
          <p:cNvPr id="4" name="Text 2"/>
          <p:cNvSpPr/>
          <p:nvPr/>
        </p:nvSpPr>
        <p:spPr>
          <a:xfrm>
            <a:off x="1968451" y="4281678"/>
            <a:ext cx="8543711" cy="319972"/>
          </a:xfrm>
          <a:prstGeom prst="rect">
            <a:avLst/>
          </a:prstGeom>
          <a:noFill/>
          <a:ln/>
        </p:spPr>
        <p:txBody>
          <a:bodyPr wrap="none" lIns="0" tIns="0" rIns="0" bIns="0" rtlCol="0" anchor="t"/>
          <a:lstStyle/>
          <a:p>
            <a:pPr algn="ctr" indent="0" marL="0">
              <a:lnSpc>
                <a:spcPts val="2520"/>
              </a:lnSpc>
              <a:buNone/>
            </a:pPr>
            <a:r>
              <a:rPr lang="en-US" sz="1800" dirty="0">
                <a:solidFill>
                  <a:srgbClr val="B7C4D1"/>
                </a:solidFill>
                <a:latin typeface="Arial" pitchFamily="34" charset="0"/>
                <a:ea typeface="Arial" pitchFamily="34" charset="-122"/>
                <a:cs typeface="Arial" pitchFamily="34" charset="-120"/>
              </a:rPr>
              <a:t>Press it. A short burst of static follows. Look away if flashing bothers you.</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3CC7BD"/>
                </a:solidFill>
                <a:latin typeface="Arial" pitchFamily="34" charset="0"/>
                <a:ea typeface="Arial" pitchFamily="34" charset="-122"/>
                <a:cs typeface="Arial" pitchFamily="34" charset="-120"/>
              </a:rPr>
              <a:t>SAME JOBS, QUANTUM</a:t>
            </a:r>
            <a:endParaRPr lang="en-US" sz="1400" dirty="0"/>
          </a:p>
        </p:txBody>
      </p:sp>
      <p:sp>
        <p:nvSpPr>
          <p:cNvPr id="3" name="Text 1"/>
          <p:cNvSpPr/>
          <p:nvPr/>
        </p:nvSpPr>
        <p:spPr>
          <a:xfrm>
            <a:off x="812780" y="1269968"/>
            <a:ext cx="11834072" cy="533387"/>
          </a:xfrm>
          <a:prstGeom prst="rect">
            <a:avLst/>
          </a:prstGeom>
          <a:noFill/>
          <a:ln/>
        </p:spPr>
        <p:txBody>
          <a:bodyPr wrap="none" lIns="0" tIns="0" rIns="0" bIns="0" rtlCol="0" anchor="t"/>
          <a:lstStyle/>
          <a:p>
            <a:pPr algn="l" indent="0" marL="0">
              <a:lnSpc>
                <a:spcPts val="4200"/>
              </a:lnSpc>
              <a:buNone/>
            </a:pPr>
            <a:r>
              <a:rPr lang="en-US" sz="4000" b="1" dirty="0">
                <a:solidFill>
                  <a:srgbClr val="EEF2F6"/>
                </a:solidFill>
                <a:latin typeface="Arial" pitchFamily="34" charset="0"/>
                <a:ea typeface="Arial" pitchFamily="34" charset="-122"/>
                <a:cs typeface="Arial" pitchFamily="34" charset="-120"/>
              </a:rPr>
              <a:t>Fewer steps for the same answer</a:t>
            </a:r>
            <a:endParaRPr lang="en-US" sz="4000" dirty="0"/>
          </a:p>
        </p:txBody>
      </p:sp>
      <p:sp>
        <p:nvSpPr>
          <p:cNvPr id="4" name="Text 2"/>
          <p:cNvSpPr/>
          <p:nvPr/>
        </p:nvSpPr>
        <p:spPr>
          <a:xfrm>
            <a:off x="914377" y="2133547"/>
            <a:ext cx="3322554" cy="234944"/>
          </a:xfrm>
          <a:prstGeom prst="rect">
            <a:avLst/>
          </a:prstGeom>
          <a:noFill/>
          <a:ln/>
        </p:spPr>
        <p:txBody>
          <a:bodyPr wrap="none" lIns="0" tIns="0" rIns="0" bIns="0" rtlCol="0" anchor="t"/>
          <a:lstStyle/>
          <a:p>
            <a:pPr algn="l" indent="0" marL="0">
              <a:lnSpc>
                <a:spcPts val="2080"/>
              </a:lnSpc>
              <a:buNone/>
            </a:pPr>
            <a:r>
              <a:rPr lang="en-US" sz="1600" b="1" dirty="0">
                <a:solidFill>
                  <a:srgbClr val="EEF2F6"/>
                </a:solidFill>
                <a:latin typeface="Arial" pitchFamily="34" charset="0"/>
                <a:ea typeface="Arial" pitchFamily="34" charset="-122"/>
                <a:cs typeface="Arial" pitchFamily="34" charset="-120"/>
              </a:rPr>
              <a:t>Job</a:t>
            </a:r>
            <a:endParaRPr lang="en-US" sz="1600" dirty="0"/>
          </a:p>
        </p:txBody>
      </p:sp>
      <p:sp>
        <p:nvSpPr>
          <p:cNvPr id="5" name="Text 3"/>
          <p:cNvSpPr/>
          <p:nvPr/>
        </p:nvSpPr>
        <p:spPr>
          <a:xfrm>
            <a:off x="4084139" y="2133547"/>
            <a:ext cx="3322554" cy="234944"/>
          </a:xfrm>
          <a:prstGeom prst="rect">
            <a:avLst/>
          </a:prstGeom>
          <a:noFill/>
          <a:ln/>
        </p:spPr>
        <p:txBody>
          <a:bodyPr wrap="none" lIns="0" tIns="0" rIns="0" bIns="0" rtlCol="0" anchor="t"/>
          <a:lstStyle/>
          <a:p>
            <a:pPr algn="l" indent="0" marL="0">
              <a:lnSpc>
                <a:spcPts val="2080"/>
              </a:lnSpc>
              <a:buNone/>
            </a:pPr>
            <a:r>
              <a:rPr lang="en-US" sz="1600" b="1" dirty="0">
                <a:solidFill>
                  <a:srgbClr val="EEF2F6"/>
                </a:solidFill>
                <a:latin typeface="Arial" pitchFamily="34" charset="0"/>
                <a:ea typeface="Arial" pitchFamily="34" charset="-122"/>
                <a:cs typeface="Arial" pitchFamily="34" charset="-120"/>
              </a:rPr>
              <a:t>By hand</a:t>
            </a:r>
            <a:endParaRPr lang="en-US" sz="1600" dirty="0"/>
          </a:p>
        </p:txBody>
      </p:sp>
      <p:sp>
        <p:nvSpPr>
          <p:cNvPr id="6" name="Text 4"/>
          <p:cNvSpPr/>
          <p:nvPr/>
        </p:nvSpPr>
        <p:spPr>
          <a:xfrm>
            <a:off x="7253900" y="2133547"/>
            <a:ext cx="4506228" cy="234944"/>
          </a:xfrm>
          <a:prstGeom prst="rect">
            <a:avLst/>
          </a:prstGeom>
          <a:noFill/>
          <a:ln/>
        </p:spPr>
        <p:txBody>
          <a:bodyPr wrap="none" lIns="0" tIns="0" rIns="0" bIns="0" rtlCol="0" anchor="t"/>
          <a:lstStyle/>
          <a:p>
            <a:pPr algn="l" indent="0" marL="0">
              <a:lnSpc>
                <a:spcPts val="2080"/>
              </a:lnSpc>
              <a:buNone/>
            </a:pPr>
            <a:r>
              <a:rPr lang="en-US" sz="1600" b="1" dirty="0">
                <a:solidFill>
                  <a:srgbClr val="EEF2F6"/>
                </a:solidFill>
                <a:latin typeface="Arial" pitchFamily="34" charset="0"/>
                <a:ea typeface="Arial" pitchFamily="34" charset="-122"/>
                <a:cs typeface="Arial" pitchFamily="34" charset="-120"/>
              </a:rPr>
              <a:t>Quantum</a:t>
            </a:r>
            <a:endParaRPr lang="en-US" sz="1600" dirty="0"/>
          </a:p>
        </p:txBody>
      </p:sp>
      <p:sp>
        <p:nvSpPr>
          <p:cNvPr id="7" name="Text 5"/>
          <p:cNvSpPr/>
          <p:nvPr/>
        </p:nvSpPr>
        <p:spPr>
          <a:xfrm>
            <a:off x="914377" y="2520887"/>
            <a:ext cx="3322554"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Arial" pitchFamily="34" charset="0"/>
                <a:ea typeface="Arial" pitchFamily="34" charset="-122"/>
                <a:cs typeface="Arial" pitchFamily="34" charset="-120"/>
              </a:rPr>
              <a:t>The outer door</a:t>
            </a:r>
            <a:endParaRPr lang="en-US" sz="1600" dirty="0"/>
          </a:p>
        </p:txBody>
      </p:sp>
      <p:sp>
        <p:nvSpPr>
          <p:cNvPr id="8" name="Text 6"/>
          <p:cNvSpPr/>
          <p:nvPr/>
        </p:nvSpPr>
        <p:spPr>
          <a:xfrm>
            <a:off x="4084139" y="2520887"/>
            <a:ext cx="3322554"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Arial" pitchFamily="34" charset="0"/>
                <a:ea typeface="Arial" pitchFamily="34" charset="-122"/>
                <a:cs typeface="Arial" pitchFamily="34" charset="-120"/>
              </a:rPr>
              <a:t>26 shifts</a:t>
            </a:r>
            <a:endParaRPr lang="en-US" sz="1600" dirty="0"/>
          </a:p>
        </p:txBody>
      </p:sp>
      <p:sp>
        <p:nvSpPr>
          <p:cNvPr id="9" name="Text 7"/>
          <p:cNvSpPr/>
          <p:nvPr/>
        </p:nvSpPr>
        <p:spPr>
          <a:xfrm>
            <a:off x="7253900" y="2520887"/>
            <a:ext cx="4506228"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Arial" pitchFamily="34" charset="0"/>
                <a:ea typeface="Arial" pitchFamily="34" charset="-122"/>
                <a:cs typeface="Arial" pitchFamily="34" charset="-120"/>
              </a:rPr>
              <a:t>One pass (Shor's)</a:t>
            </a:r>
            <a:endParaRPr lang="en-US" sz="1600" dirty="0"/>
          </a:p>
        </p:txBody>
      </p:sp>
      <p:sp>
        <p:nvSpPr>
          <p:cNvPr id="10" name="Text 8"/>
          <p:cNvSpPr/>
          <p:nvPr/>
        </p:nvSpPr>
        <p:spPr>
          <a:xfrm>
            <a:off x="914377" y="2908227"/>
            <a:ext cx="3322554"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Arial" pitchFamily="34" charset="0"/>
                <a:ea typeface="Arial" pitchFamily="34" charset="-122"/>
                <a:cs typeface="Arial" pitchFamily="34" charset="-120"/>
              </a:rPr>
              <a:t>Room One</a:t>
            </a:r>
            <a:endParaRPr lang="en-US" sz="1600" dirty="0"/>
          </a:p>
        </p:txBody>
      </p:sp>
      <p:sp>
        <p:nvSpPr>
          <p:cNvPr id="11" name="Text 9"/>
          <p:cNvSpPr/>
          <p:nvPr/>
        </p:nvSpPr>
        <p:spPr>
          <a:xfrm>
            <a:off x="4084139" y="2908227"/>
            <a:ext cx="3322554"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Arial" pitchFamily="34" charset="0"/>
                <a:ea typeface="Arial" pitchFamily="34" charset="-122"/>
                <a:cs typeface="Arial" pitchFamily="34" charset="-120"/>
              </a:rPr>
              <a:t>4 boxes</a:t>
            </a:r>
            <a:endParaRPr lang="en-US" sz="1600" dirty="0"/>
          </a:p>
        </p:txBody>
      </p:sp>
      <p:sp>
        <p:nvSpPr>
          <p:cNvPr id="12" name="Text 10"/>
          <p:cNvSpPr/>
          <p:nvPr/>
        </p:nvSpPr>
        <p:spPr>
          <a:xfrm>
            <a:off x="7253900" y="2908227"/>
            <a:ext cx="4506228"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Arial" pitchFamily="34" charset="0"/>
                <a:ea typeface="Arial" pitchFamily="34" charset="-122"/>
                <a:cs typeface="Arial" pitchFamily="34" charset="-120"/>
              </a:rPr>
              <a:t>1 step (Grover's)</a:t>
            </a:r>
            <a:endParaRPr lang="en-US" sz="1600" dirty="0"/>
          </a:p>
        </p:txBody>
      </p:sp>
      <p:sp>
        <p:nvSpPr>
          <p:cNvPr id="13" name="Text 11"/>
          <p:cNvSpPr/>
          <p:nvPr/>
        </p:nvSpPr>
        <p:spPr>
          <a:xfrm>
            <a:off x="914377" y="3295568"/>
            <a:ext cx="3322554"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Arial" pitchFamily="34" charset="0"/>
                <a:ea typeface="Arial" pitchFamily="34" charset="-122"/>
                <a:cs typeface="Arial" pitchFamily="34" charset="-120"/>
              </a:rPr>
              <a:t>Rooms Two and Three</a:t>
            </a:r>
            <a:endParaRPr lang="en-US" sz="1600" dirty="0"/>
          </a:p>
        </p:txBody>
      </p:sp>
      <p:sp>
        <p:nvSpPr>
          <p:cNvPr id="14" name="Text 12"/>
          <p:cNvSpPr/>
          <p:nvPr/>
        </p:nvSpPr>
        <p:spPr>
          <a:xfrm>
            <a:off x="4084139" y="3295568"/>
            <a:ext cx="3322554"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Arial" pitchFamily="34" charset="0"/>
                <a:ea typeface="Arial" pitchFamily="34" charset="-122"/>
                <a:cs typeface="Arial" pitchFamily="34" charset="-120"/>
              </a:rPr>
              <a:t>16 and 64 boxes</a:t>
            </a:r>
            <a:endParaRPr lang="en-US" sz="1600" dirty="0"/>
          </a:p>
        </p:txBody>
      </p:sp>
      <p:sp>
        <p:nvSpPr>
          <p:cNvPr id="15" name="Text 13"/>
          <p:cNvSpPr/>
          <p:nvPr/>
        </p:nvSpPr>
        <p:spPr>
          <a:xfrm>
            <a:off x="7253900" y="3295568"/>
            <a:ext cx="4506228"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Arial" pitchFamily="34" charset="0"/>
                <a:ea typeface="Arial" pitchFamily="34" charset="-122"/>
                <a:cs typeface="Arial" pitchFamily="34" charset="-120"/>
              </a:rPr>
              <a:t>3 and 6 steps</a:t>
            </a:r>
            <a:endParaRPr lang="en-US" sz="1600" dirty="0"/>
          </a:p>
        </p:txBody>
      </p:sp>
      <p:sp>
        <p:nvSpPr>
          <p:cNvPr id="16" name="Text 14"/>
          <p:cNvSpPr/>
          <p:nvPr/>
        </p:nvSpPr>
        <p:spPr>
          <a:xfrm>
            <a:off x="914377" y="3682908"/>
            <a:ext cx="3322554"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Arial" pitchFamily="34" charset="0"/>
                <a:ea typeface="Arial" pitchFamily="34" charset="-122"/>
                <a:cs typeface="Arial" pitchFamily="34" charset="-120"/>
              </a:rPr>
              <a:t>The Ledger</a:t>
            </a:r>
            <a:endParaRPr lang="en-US" sz="1600" dirty="0"/>
          </a:p>
        </p:txBody>
      </p:sp>
      <p:sp>
        <p:nvSpPr>
          <p:cNvPr id="17" name="Text 15"/>
          <p:cNvSpPr/>
          <p:nvPr/>
        </p:nvSpPr>
        <p:spPr>
          <a:xfrm>
            <a:off x="4084139" y="3682908"/>
            <a:ext cx="3322554"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Arial" pitchFamily="34" charset="0"/>
                <a:ea typeface="Arial" pitchFamily="34" charset="-122"/>
                <a:cs typeface="Arial" pitchFamily="34" charset="-120"/>
              </a:rPr>
              <a:t>64 accounts</a:t>
            </a:r>
            <a:endParaRPr lang="en-US" sz="1600" dirty="0"/>
          </a:p>
        </p:txBody>
      </p:sp>
      <p:sp>
        <p:nvSpPr>
          <p:cNvPr id="18" name="Text 16"/>
          <p:cNvSpPr/>
          <p:nvPr/>
        </p:nvSpPr>
        <p:spPr>
          <a:xfrm>
            <a:off x="7253900" y="3682908"/>
            <a:ext cx="4506228"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Arial" pitchFamily="34" charset="0"/>
                <a:ea typeface="Arial" pitchFamily="34" charset="-122"/>
                <a:cs typeface="Arial" pitchFamily="34" charset="-120"/>
              </a:rPr>
              <a:t>6 steps, same rule</a:t>
            </a:r>
            <a:endParaRPr lang="en-US" sz="1600" dirty="0"/>
          </a:p>
        </p:txBody>
      </p:sp>
      <p:sp>
        <p:nvSpPr>
          <p:cNvPr id="19" name="Text 17"/>
          <p:cNvSpPr/>
          <p:nvPr/>
        </p:nvSpPr>
        <p:spPr>
          <a:xfrm>
            <a:off x="812780" y="6273643"/>
            <a:ext cx="4117856"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Steps grow with the square root of the pile, not the pile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22D"/>
        </a:solidFill>
      </p:bgPr>
    </p:bg>
    <p:spTree>
      <p:nvGrpSpPr>
        <p:cNvPr id="1" name=""/>
        <p:cNvGrpSpPr/>
        <p:nvPr/>
      </p:nvGrpSpPr>
      <p:grpSpPr>
        <a:xfrm>
          <a:off x="0" y="0"/>
          <a:ext cx="0" cy="0"/>
          <a:chOff x="0" y="0"/>
          <a:chExt cx="0" cy="0"/>
        </a:xfrm>
      </p:grpSpPr>
      <p:sp>
        <p:nvSpPr>
          <p:cNvPr id="2" name="Text 0"/>
          <p:cNvSpPr/>
          <p:nvPr/>
        </p:nvSpPr>
        <p:spPr>
          <a:xfrm>
            <a:off x="812780" y="1824190"/>
            <a:ext cx="10935951" cy="1621988"/>
          </a:xfrm>
          <a:prstGeom prst="rect">
            <a:avLst/>
          </a:prstGeom>
          <a:noFill/>
          <a:ln/>
        </p:spPr>
        <p:txBody>
          <a:bodyPr wrap="square" lIns="0" tIns="0" rIns="0" bIns="0" rtlCol="0" anchor="t"/>
          <a:lstStyle/>
          <a:p>
            <a:pPr algn="l" indent="0" marL="0">
              <a:lnSpc>
                <a:spcPts val="6390"/>
              </a:lnSpc>
              <a:buNone/>
            </a:pPr>
            <a:r>
              <a:rPr lang="en-US" sz="6200" b="1" dirty="0">
                <a:solidFill>
                  <a:srgbClr val="EEF2F6"/>
                </a:solidFill>
                <a:latin typeface="Arial" pitchFamily="34" charset="0"/>
                <a:ea typeface="Arial" pitchFamily="34" charset="-122"/>
                <a:cs typeface="Arial" pitchFamily="34" charset="-120"/>
              </a:rPr>
              <a:t>None of this ran on a real quantum computer.</a:t>
            </a:r>
            <a:endParaRPr lang="en-US" sz="6200" dirty="0"/>
          </a:p>
        </p:txBody>
      </p:sp>
      <p:sp>
        <p:nvSpPr>
          <p:cNvPr id="3" name="Text 1"/>
          <p:cNvSpPr/>
          <p:nvPr/>
        </p:nvSpPr>
        <p:spPr>
          <a:xfrm>
            <a:off x="812780" y="3725571"/>
            <a:ext cx="9529524" cy="711182"/>
          </a:xfrm>
          <a:prstGeom prst="rect">
            <a:avLst/>
          </a:prstGeom>
          <a:noFill/>
          <a:ln/>
        </p:spPr>
        <p:txBody>
          <a:bodyPr wrap="square" lIns="0" tIns="0" rIns="0" bIns="0" rtlCol="0" anchor="t"/>
          <a:lstStyle/>
          <a:p>
            <a:pPr algn="l" indent="0" marL="0">
              <a:lnSpc>
                <a:spcPts val="2800"/>
              </a:lnSpc>
              <a:buNone/>
            </a:pPr>
            <a:r>
              <a:rPr lang="en-US" sz="2000" dirty="0">
                <a:solidFill>
                  <a:srgbClr val="B7C4D1"/>
                </a:solidFill>
                <a:latin typeface="Arial" pitchFamily="34" charset="0"/>
                <a:ea typeface="Arial" pitchFamily="34" charset="-122"/>
                <a:cs typeface="Arial" pitchFamily="34" charset="-120"/>
              </a:rPr>
              <a:t>The maths is real. Shor's algorithm dates from 1994 and Grover's from 1996. A machine big enough to use them at scale does not exist yet.</a:t>
            </a:r>
            <a:endParaRPr lang="en-US" sz="2000" dirty="0"/>
          </a:p>
        </p:txBody>
      </p:sp>
      <p:sp>
        <p:nvSpPr>
          <p:cNvPr id="4" name="Text 2"/>
          <p:cNvSpPr/>
          <p:nvPr/>
        </p:nvSpPr>
        <p:spPr>
          <a:xfrm>
            <a:off x="812780" y="6273643"/>
            <a:ext cx="2327566" cy="177796"/>
          </a:xfrm>
          <a:prstGeom prst="rect">
            <a:avLst/>
          </a:prstGeom>
          <a:noFill/>
          <a:ln/>
        </p:spPr>
        <p:txBody>
          <a:bodyPr wrap="none" lIns="0" tIns="0" rIns="0" bIns="0" rtlCol="0" anchor="t"/>
          <a:lstStyle/>
          <a:p>
            <a:pPr algn="l" indent="0" marL="0">
              <a:lnSpc>
                <a:spcPts val="1560"/>
              </a:lnSpc>
              <a:buNone/>
            </a:pPr>
            <a:r>
              <a:rPr lang="en-US" sz="1200" dirty="0">
                <a:solidFill>
                  <a:srgbClr val="8FA3B5"/>
                </a:solidFill>
                <a:latin typeface="Arial" pitchFamily="34" charset="0"/>
                <a:ea typeface="Arial" pitchFamily="34" charset="-122"/>
                <a:cs typeface="Arial" pitchFamily="34" charset="-120"/>
              </a:rPr>
              <a:t>Your money is not at risk today</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FFB35C"/>
                </a:solidFill>
                <a:latin typeface="Arial" pitchFamily="34" charset="0"/>
                <a:ea typeface="Arial" pitchFamily="34" charset="-122"/>
                <a:cs typeface="Arial" pitchFamily="34" charset="-120"/>
              </a:rPr>
              <a:t>THE ONE TO WORRY ABOUT</a:t>
            </a:r>
            <a:endParaRPr lang="en-US" sz="1400" dirty="0"/>
          </a:p>
        </p:txBody>
      </p:sp>
      <p:sp>
        <p:nvSpPr>
          <p:cNvPr id="3" name="Text 1"/>
          <p:cNvSpPr/>
          <p:nvPr/>
        </p:nvSpPr>
        <p:spPr>
          <a:xfrm>
            <a:off x="812780" y="1269968"/>
            <a:ext cx="11834072" cy="533387"/>
          </a:xfrm>
          <a:prstGeom prst="rect">
            <a:avLst/>
          </a:prstGeom>
          <a:noFill/>
          <a:ln/>
        </p:spPr>
        <p:txBody>
          <a:bodyPr wrap="none" lIns="0" tIns="0" rIns="0" bIns="0" rtlCol="0" anchor="t"/>
          <a:lstStyle/>
          <a:p>
            <a:pPr algn="l" indent="0" marL="0">
              <a:lnSpc>
                <a:spcPts val="4200"/>
              </a:lnSpc>
              <a:buNone/>
            </a:pPr>
            <a:r>
              <a:rPr lang="en-US" sz="4000" b="1" dirty="0">
                <a:solidFill>
                  <a:srgbClr val="EEF2F6"/>
                </a:solidFill>
                <a:latin typeface="Arial" pitchFamily="34" charset="0"/>
                <a:ea typeface="Arial" pitchFamily="34" charset="-122"/>
                <a:cs typeface="Arial" pitchFamily="34" charset="-120"/>
              </a:rPr>
              <a:t>Harvest now, decrypt later</a:t>
            </a:r>
            <a:endParaRPr lang="en-US" sz="4000" dirty="0"/>
          </a:p>
        </p:txBody>
      </p:sp>
      <p:sp>
        <p:nvSpPr>
          <p:cNvPr id="4" name="Shape 2"/>
          <p:cNvSpPr/>
          <p:nvPr/>
        </p:nvSpPr>
        <p:spPr>
          <a:xfrm>
            <a:off x="812780" y="2057349"/>
            <a:ext cx="3047924" cy="1337237"/>
          </a:xfrm>
          <a:prstGeom prst="roundRect">
            <a:avLst>
              <a:gd name="adj" fmla="val 9497"/>
            </a:avLst>
          </a:prstGeom>
          <a:solidFill>
            <a:srgbClr val="16222D"/>
          </a:solidFill>
          <a:ln w="6350">
            <a:solidFill>
              <a:srgbClr val="26384A"/>
            </a:solidFill>
            <a:prstDash val="solid"/>
          </a:ln>
        </p:spPr>
      </p:sp>
      <p:sp>
        <p:nvSpPr>
          <p:cNvPr id="5" name="Text 3"/>
          <p:cNvSpPr/>
          <p:nvPr/>
        </p:nvSpPr>
        <p:spPr>
          <a:xfrm>
            <a:off x="1022324" y="2266893"/>
            <a:ext cx="2944294" cy="321262"/>
          </a:xfrm>
          <a:prstGeom prst="rect">
            <a:avLst/>
          </a:prstGeom>
          <a:noFill/>
          <a:ln/>
        </p:spPr>
        <p:txBody>
          <a:bodyPr wrap="non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Copy today</a:t>
            </a:r>
            <a:endParaRPr lang="en-US" sz="2200" dirty="0"/>
          </a:p>
        </p:txBody>
      </p:sp>
      <p:sp>
        <p:nvSpPr>
          <p:cNvPr id="6" name="Text 4"/>
          <p:cNvSpPr/>
          <p:nvPr/>
        </p:nvSpPr>
        <p:spPr>
          <a:xfrm>
            <a:off x="1022324" y="2651654"/>
            <a:ext cx="2720843"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Encrypted data is captured now</a:t>
            </a:r>
            <a:endParaRPr lang="en-US" sz="1500" dirty="0"/>
          </a:p>
        </p:txBody>
      </p:sp>
      <p:sp>
        <p:nvSpPr>
          <p:cNvPr id="7" name="Shape 5"/>
          <p:cNvSpPr/>
          <p:nvPr/>
        </p:nvSpPr>
        <p:spPr>
          <a:xfrm>
            <a:off x="3987700" y="2573571"/>
            <a:ext cx="457189" cy="304792"/>
          </a:xfrm>
          <a:prstGeom prst="rect">
            <a:avLst/>
          </a:prstGeom>
          <a:solidFill>
            <a:srgbClr val="FFB35C"/>
          </a:solidFill>
          <a:ln/>
        </p:spPr>
      </p:sp>
      <p:sp>
        <p:nvSpPr>
          <p:cNvPr id="8" name="Shape 6"/>
          <p:cNvSpPr/>
          <p:nvPr/>
        </p:nvSpPr>
        <p:spPr>
          <a:xfrm>
            <a:off x="4571886" y="2057349"/>
            <a:ext cx="3047924" cy="1337237"/>
          </a:xfrm>
          <a:prstGeom prst="roundRect">
            <a:avLst>
              <a:gd name="adj" fmla="val 9497"/>
            </a:avLst>
          </a:prstGeom>
          <a:solidFill>
            <a:srgbClr val="16222D"/>
          </a:solidFill>
          <a:ln w="6350">
            <a:solidFill>
              <a:srgbClr val="26384A"/>
            </a:solidFill>
            <a:prstDash val="solid"/>
          </a:ln>
        </p:spPr>
      </p:sp>
      <p:sp>
        <p:nvSpPr>
          <p:cNvPr id="9" name="Text 7"/>
          <p:cNvSpPr/>
          <p:nvPr/>
        </p:nvSpPr>
        <p:spPr>
          <a:xfrm>
            <a:off x="4781430" y="2266893"/>
            <a:ext cx="2944294" cy="321262"/>
          </a:xfrm>
          <a:prstGeom prst="rect">
            <a:avLst/>
          </a:prstGeom>
          <a:noFill/>
          <a:ln/>
        </p:spPr>
        <p:txBody>
          <a:bodyPr wrap="non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Store it</a:t>
            </a:r>
            <a:endParaRPr lang="en-US" sz="2200" dirty="0"/>
          </a:p>
        </p:txBody>
      </p:sp>
      <p:sp>
        <p:nvSpPr>
          <p:cNvPr id="10" name="Text 8"/>
          <p:cNvSpPr/>
          <p:nvPr/>
        </p:nvSpPr>
        <p:spPr>
          <a:xfrm>
            <a:off x="4781430" y="2651654"/>
            <a:ext cx="2944294" cy="266693"/>
          </a:xfrm>
          <a:prstGeom prst="rect">
            <a:avLst/>
          </a:prstGeom>
          <a:noFill/>
          <a:ln/>
        </p:spPr>
        <p:txBody>
          <a:bodyPr wrap="non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Kept, unreadable, for years</a:t>
            </a:r>
            <a:endParaRPr lang="en-US" sz="1500" dirty="0"/>
          </a:p>
        </p:txBody>
      </p:sp>
      <p:sp>
        <p:nvSpPr>
          <p:cNvPr id="11" name="Shape 9"/>
          <p:cNvSpPr/>
          <p:nvPr/>
        </p:nvSpPr>
        <p:spPr>
          <a:xfrm>
            <a:off x="7746806" y="2573571"/>
            <a:ext cx="457189" cy="304792"/>
          </a:xfrm>
          <a:prstGeom prst="rect">
            <a:avLst/>
          </a:prstGeom>
          <a:solidFill>
            <a:srgbClr val="FFB35C"/>
          </a:solidFill>
          <a:ln/>
        </p:spPr>
      </p:sp>
      <p:sp>
        <p:nvSpPr>
          <p:cNvPr id="12" name="Shape 10"/>
          <p:cNvSpPr/>
          <p:nvPr/>
        </p:nvSpPr>
        <p:spPr>
          <a:xfrm>
            <a:off x="8330992" y="2057349"/>
            <a:ext cx="3047924" cy="1337237"/>
          </a:xfrm>
          <a:prstGeom prst="roundRect">
            <a:avLst>
              <a:gd name="adj" fmla="val 9497"/>
            </a:avLst>
          </a:prstGeom>
          <a:solidFill>
            <a:srgbClr val="16222D"/>
          </a:solidFill>
          <a:ln w="6350">
            <a:solidFill>
              <a:srgbClr val="26384A"/>
            </a:solidFill>
            <a:prstDash val="solid"/>
          </a:ln>
        </p:spPr>
      </p:sp>
      <p:sp>
        <p:nvSpPr>
          <p:cNvPr id="13" name="Text 11"/>
          <p:cNvSpPr/>
          <p:nvPr/>
        </p:nvSpPr>
        <p:spPr>
          <a:xfrm>
            <a:off x="8540536" y="2266893"/>
            <a:ext cx="2944294" cy="321262"/>
          </a:xfrm>
          <a:prstGeom prst="rect">
            <a:avLst/>
          </a:prstGeom>
          <a:noFill/>
          <a:ln/>
        </p:spPr>
        <p:txBody>
          <a:bodyPr wrap="none" lIns="0" tIns="0" rIns="0" bIns="0" rtlCol="0" anchor="t"/>
          <a:lstStyle/>
          <a:p>
            <a:pPr algn="l" indent="0" marL="0">
              <a:lnSpc>
                <a:spcPts val="2530"/>
              </a:lnSpc>
              <a:buNone/>
            </a:pPr>
            <a:r>
              <a:rPr lang="en-US" sz="2200" b="1" dirty="0">
                <a:solidFill>
                  <a:srgbClr val="EEF2F6"/>
                </a:solidFill>
                <a:latin typeface="Arial" pitchFamily="34" charset="0"/>
                <a:ea typeface="Arial" pitchFamily="34" charset="-122"/>
                <a:cs typeface="Arial" pitchFamily="34" charset="-120"/>
              </a:rPr>
              <a:t>Open later</a:t>
            </a:r>
            <a:endParaRPr lang="en-US" sz="2200" dirty="0"/>
          </a:p>
        </p:txBody>
      </p:sp>
      <p:sp>
        <p:nvSpPr>
          <p:cNvPr id="14" name="Text 12"/>
          <p:cNvSpPr/>
          <p:nvPr/>
        </p:nvSpPr>
        <p:spPr>
          <a:xfrm>
            <a:off x="8540536" y="2651654"/>
            <a:ext cx="2720843"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A big quantum computer unlocks it</a:t>
            </a:r>
            <a:endParaRPr lang="en-US" sz="1500" dirty="0"/>
          </a:p>
        </p:txBody>
      </p:sp>
      <p:sp>
        <p:nvSpPr>
          <p:cNvPr id="15" name="Shape 13"/>
          <p:cNvSpPr/>
          <p:nvPr/>
        </p:nvSpPr>
        <p:spPr>
          <a:xfrm>
            <a:off x="812780" y="3648579"/>
            <a:ext cx="10566136" cy="985416"/>
          </a:xfrm>
          <a:prstGeom prst="roundRect">
            <a:avLst>
              <a:gd name="adj" fmla="val 12888"/>
            </a:avLst>
          </a:prstGeom>
          <a:solidFill>
            <a:srgbClr val="12332F"/>
          </a:solidFill>
          <a:ln w="12700">
            <a:solidFill>
              <a:srgbClr val="3CC7BD"/>
            </a:solidFill>
            <a:prstDash val="solid"/>
          </a:ln>
        </p:spPr>
      </p:sp>
      <p:sp>
        <p:nvSpPr>
          <p:cNvPr id="16" name="Text 14"/>
          <p:cNvSpPr/>
          <p:nvPr/>
        </p:nvSpPr>
        <p:spPr>
          <a:xfrm>
            <a:off x="1079473" y="3839074"/>
            <a:ext cx="10383895" cy="604426"/>
          </a:xfrm>
          <a:prstGeom prst="rect">
            <a:avLst/>
          </a:prstGeom>
          <a:noFill/>
          <a:ln/>
        </p:spPr>
        <p:txBody>
          <a:bodyPr wrap="square" lIns="0" tIns="0" rIns="0" bIns="0" rtlCol="0" anchor="t"/>
          <a:lstStyle/>
          <a:p>
            <a:pPr algn="l" indent="0" marL="0">
              <a:lnSpc>
                <a:spcPts val="2380"/>
              </a:lnSpc>
              <a:buNone/>
            </a:pPr>
            <a:r>
              <a:rPr lang="en-US" sz="1700" dirty="0">
                <a:solidFill>
                  <a:srgbClr val="EEF2F6"/>
                </a:solidFill>
                <a:latin typeface="Arial" pitchFamily="34" charset="0"/>
                <a:ea typeface="Arial" pitchFamily="34" charset="-122"/>
                <a:cs typeface="Arial" pitchFamily="34" charset="-120"/>
              </a:rPr>
              <a:t>Banks and governments are already moving to post-quantum encryption. NIST published its first standards in August 2024.</a:t>
            </a:r>
            <a:endParaRPr lang="en-US" sz="1700" dirty="0"/>
          </a:p>
        </p:txBody>
      </p:sp>
      <p:sp>
        <p:nvSpPr>
          <p:cNvPr id="17" name="Text 15"/>
          <p:cNvSpPr/>
          <p:nvPr/>
        </p:nvSpPr>
        <p:spPr>
          <a:xfrm>
            <a:off x="812780" y="6273643"/>
            <a:ext cx="4022624"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Post-quantum encryption runs on ordinary computers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3CC7BD"/>
                </a:solidFill>
                <a:latin typeface="Arial" pitchFamily="34" charset="0"/>
                <a:ea typeface="Arial" pitchFamily="34" charset="-122"/>
                <a:cs typeface="Arial" pitchFamily="34" charset="-120"/>
              </a:rPr>
              <a:t>SO WHAT</a:t>
            </a:r>
            <a:endParaRPr lang="en-US" sz="1400" dirty="0"/>
          </a:p>
        </p:txBody>
      </p:sp>
      <p:sp>
        <p:nvSpPr>
          <p:cNvPr id="3" name="Text 1"/>
          <p:cNvSpPr/>
          <p:nvPr/>
        </p:nvSpPr>
        <p:spPr>
          <a:xfrm>
            <a:off x="812780" y="1295368"/>
            <a:ext cx="11834072" cy="506697"/>
          </a:xfrm>
          <a:prstGeom prst="rect">
            <a:avLst/>
          </a:prstGeom>
          <a:noFill/>
          <a:ln/>
        </p:spPr>
        <p:txBody>
          <a:bodyPr wrap="none" lIns="0" tIns="0" rIns="0" bIns="0" rtlCol="0" anchor="t"/>
          <a:lstStyle/>
          <a:p>
            <a:pPr algn="l" indent="0" marL="0">
              <a:lnSpc>
                <a:spcPts val="3990"/>
              </a:lnSpc>
              <a:buNone/>
            </a:pPr>
            <a:r>
              <a:rPr lang="en-US" sz="3800" b="1" dirty="0">
                <a:solidFill>
                  <a:srgbClr val="EEF2F6"/>
                </a:solidFill>
                <a:latin typeface="Arial" pitchFamily="34" charset="0"/>
                <a:ea typeface="Arial" pitchFamily="34" charset="-122"/>
                <a:cs typeface="Arial" pitchFamily="34" charset="-120"/>
              </a:rPr>
              <a:t>Where banking and technology meet</a:t>
            </a:r>
            <a:endParaRPr lang="en-US" sz="3800" dirty="0"/>
          </a:p>
        </p:txBody>
      </p:sp>
      <p:sp>
        <p:nvSpPr>
          <p:cNvPr id="4" name="Shape 2"/>
          <p:cNvSpPr/>
          <p:nvPr/>
        </p:nvSpPr>
        <p:spPr>
          <a:xfrm>
            <a:off x="812780" y="2081458"/>
            <a:ext cx="3386549" cy="1464234"/>
          </a:xfrm>
          <a:prstGeom prst="roundRect">
            <a:avLst>
              <a:gd name="adj" fmla="val 8673"/>
            </a:avLst>
          </a:prstGeom>
          <a:solidFill>
            <a:srgbClr val="16222D"/>
          </a:solidFill>
          <a:ln w="6350">
            <a:solidFill>
              <a:srgbClr val="26384A"/>
            </a:solidFill>
            <a:prstDash val="solid"/>
          </a:ln>
        </p:spPr>
      </p:sp>
      <p:sp>
        <p:nvSpPr>
          <p:cNvPr id="5" name="Text 3"/>
          <p:cNvSpPr/>
          <p:nvPr/>
        </p:nvSpPr>
        <p:spPr>
          <a:xfrm>
            <a:off x="1073123" y="2341802"/>
            <a:ext cx="3209765" cy="321262"/>
          </a:xfrm>
          <a:prstGeom prst="rect">
            <a:avLst/>
          </a:prstGeom>
          <a:noFill/>
          <a:ln/>
        </p:spPr>
        <p:txBody>
          <a:bodyPr wrap="none" lIns="0" tIns="0" rIns="0" bIns="0" rtlCol="0" anchor="t"/>
          <a:lstStyle/>
          <a:p>
            <a:pPr algn="l" indent="0" marL="0">
              <a:lnSpc>
                <a:spcPts val="2530"/>
              </a:lnSpc>
              <a:buNone/>
            </a:pPr>
            <a:r>
              <a:rPr lang="en-US" sz="2200" b="1" dirty="0">
                <a:solidFill>
                  <a:srgbClr val="3CC7BD"/>
                </a:solidFill>
                <a:latin typeface="Arial" pitchFamily="34" charset="0"/>
                <a:ea typeface="Arial" pitchFamily="34" charset="-122"/>
                <a:cs typeface="Arial" pitchFamily="34" charset="-120"/>
              </a:rPr>
              <a:t>Find it</a:t>
            </a:r>
            <a:endParaRPr lang="en-US" sz="2200" dirty="0"/>
          </a:p>
        </p:txBody>
      </p:sp>
      <p:sp>
        <p:nvSpPr>
          <p:cNvPr id="6" name="Text 4"/>
          <p:cNvSpPr/>
          <p:nvPr/>
        </p:nvSpPr>
        <p:spPr>
          <a:xfrm>
            <a:off x="1073123" y="2751962"/>
            <a:ext cx="2966167"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Someone has to find where the old encryption lives.</a:t>
            </a:r>
            <a:endParaRPr lang="en-US" sz="1500" dirty="0"/>
          </a:p>
        </p:txBody>
      </p:sp>
      <p:sp>
        <p:nvSpPr>
          <p:cNvPr id="7" name="Shape 5"/>
          <p:cNvSpPr/>
          <p:nvPr/>
        </p:nvSpPr>
        <p:spPr>
          <a:xfrm>
            <a:off x="4402524" y="2081458"/>
            <a:ext cx="3386549" cy="1464234"/>
          </a:xfrm>
          <a:prstGeom prst="roundRect">
            <a:avLst>
              <a:gd name="adj" fmla="val 8673"/>
            </a:avLst>
          </a:prstGeom>
          <a:solidFill>
            <a:srgbClr val="16222D"/>
          </a:solidFill>
          <a:ln w="6350">
            <a:solidFill>
              <a:srgbClr val="26384A"/>
            </a:solidFill>
            <a:prstDash val="solid"/>
          </a:ln>
        </p:spPr>
      </p:sp>
      <p:sp>
        <p:nvSpPr>
          <p:cNvPr id="8" name="Text 6"/>
          <p:cNvSpPr/>
          <p:nvPr/>
        </p:nvSpPr>
        <p:spPr>
          <a:xfrm>
            <a:off x="4662867" y="2341802"/>
            <a:ext cx="3209765" cy="321262"/>
          </a:xfrm>
          <a:prstGeom prst="rect">
            <a:avLst/>
          </a:prstGeom>
          <a:noFill/>
          <a:ln/>
        </p:spPr>
        <p:txBody>
          <a:bodyPr wrap="none" lIns="0" tIns="0" rIns="0" bIns="0" rtlCol="0" anchor="t"/>
          <a:lstStyle/>
          <a:p>
            <a:pPr algn="l" indent="0" marL="0">
              <a:lnSpc>
                <a:spcPts val="2530"/>
              </a:lnSpc>
              <a:buNone/>
            </a:pPr>
            <a:r>
              <a:rPr lang="en-US" sz="2200" b="1" dirty="0">
                <a:solidFill>
                  <a:srgbClr val="3CC7BD"/>
                </a:solidFill>
                <a:latin typeface="Arial" pitchFamily="34" charset="0"/>
                <a:ea typeface="Arial" pitchFamily="34" charset="-122"/>
                <a:cs typeface="Arial" pitchFamily="34" charset="-120"/>
              </a:rPr>
              <a:t>Move it</a:t>
            </a:r>
            <a:endParaRPr lang="en-US" sz="2200" dirty="0"/>
          </a:p>
        </p:txBody>
      </p:sp>
      <p:sp>
        <p:nvSpPr>
          <p:cNvPr id="9" name="Text 7"/>
          <p:cNvSpPr/>
          <p:nvPr/>
        </p:nvSpPr>
        <p:spPr>
          <a:xfrm>
            <a:off x="4662867" y="2751962"/>
            <a:ext cx="2966167"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Someone has to change it without stopping payments.</a:t>
            </a:r>
            <a:endParaRPr lang="en-US" sz="1500" dirty="0"/>
          </a:p>
        </p:txBody>
      </p:sp>
      <p:sp>
        <p:nvSpPr>
          <p:cNvPr id="10" name="Shape 8"/>
          <p:cNvSpPr/>
          <p:nvPr/>
        </p:nvSpPr>
        <p:spPr>
          <a:xfrm>
            <a:off x="7992267" y="2081458"/>
            <a:ext cx="3386549" cy="1464234"/>
          </a:xfrm>
          <a:prstGeom prst="roundRect">
            <a:avLst>
              <a:gd name="adj" fmla="val 8673"/>
            </a:avLst>
          </a:prstGeom>
          <a:solidFill>
            <a:srgbClr val="16222D"/>
          </a:solidFill>
          <a:ln w="6350">
            <a:solidFill>
              <a:srgbClr val="26384A"/>
            </a:solidFill>
            <a:prstDash val="solid"/>
          </a:ln>
        </p:spPr>
      </p:sp>
      <p:sp>
        <p:nvSpPr>
          <p:cNvPr id="11" name="Text 9"/>
          <p:cNvSpPr/>
          <p:nvPr/>
        </p:nvSpPr>
        <p:spPr>
          <a:xfrm>
            <a:off x="8252611" y="2341802"/>
            <a:ext cx="3209765" cy="321262"/>
          </a:xfrm>
          <a:prstGeom prst="rect">
            <a:avLst/>
          </a:prstGeom>
          <a:noFill/>
          <a:ln/>
        </p:spPr>
        <p:txBody>
          <a:bodyPr wrap="none" lIns="0" tIns="0" rIns="0" bIns="0" rtlCol="0" anchor="t"/>
          <a:lstStyle/>
          <a:p>
            <a:pPr algn="l" indent="0" marL="0">
              <a:lnSpc>
                <a:spcPts val="2530"/>
              </a:lnSpc>
              <a:buNone/>
            </a:pPr>
            <a:r>
              <a:rPr lang="en-US" sz="2200" b="1" dirty="0">
                <a:solidFill>
                  <a:srgbClr val="3CC7BD"/>
                </a:solidFill>
                <a:latin typeface="Arial" pitchFamily="34" charset="0"/>
                <a:ea typeface="Arial" pitchFamily="34" charset="-122"/>
                <a:cs typeface="Arial" pitchFamily="34" charset="-120"/>
              </a:rPr>
              <a:t>Explain it</a:t>
            </a:r>
            <a:endParaRPr lang="en-US" sz="2200" dirty="0"/>
          </a:p>
        </p:txBody>
      </p:sp>
      <p:sp>
        <p:nvSpPr>
          <p:cNvPr id="12" name="Text 10"/>
          <p:cNvSpPr/>
          <p:nvPr/>
        </p:nvSpPr>
        <p:spPr>
          <a:xfrm>
            <a:off x="8252611" y="2751962"/>
            <a:ext cx="2966167"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Someone has to explain the risk in plain words.</a:t>
            </a:r>
            <a:endParaRPr lang="en-US" sz="1500" dirty="0"/>
          </a:p>
        </p:txBody>
      </p:sp>
      <p:sp>
        <p:nvSpPr>
          <p:cNvPr id="13" name="Text 11"/>
          <p:cNvSpPr/>
          <p:nvPr/>
        </p:nvSpPr>
        <p:spPr>
          <a:xfrm>
            <a:off x="812780" y="3825085"/>
            <a:ext cx="11834072" cy="284453"/>
          </a:xfrm>
          <a:prstGeom prst="rect">
            <a:avLst/>
          </a:prstGeom>
          <a:noFill/>
          <a:ln/>
        </p:spPr>
        <p:txBody>
          <a:bodyPr wrap="none" lIns="0" tIns="0" rIns="0" bIns="0" rtlCol="0" anchor="t"/>
          <a:lstStyle/>
          <a:p>
            <a:pPr algn="l" indent="0" marL="0">
              <a:lnSpc>
                <a:spcPts val="2240"/>
              </a:lnSpc>
              <a:buNone/>
            </a:pPr>
            <a:r>
              <a:rPr lang="en-US" sz="1600" dirty="0">
                <a:solidFill>
                  <a:srgbClr val="FFB35C"/>
                </a:solidFill>
                <a:latin typeface="Arial" pitchFamily="34" charset="0"/>
                <a:ea typeface="Arial" pitchFamily="34" charset="-122"/>
                <a:cs typeface="Arial" pitchFamily="34" charset="-120"/>
              </a:rPr>
              <a:t>Examples of the work. No promises, just what the work looks like.</a:t>
            </a:r>
            <a:endParaRPr lang="en-US" sz="1600" dirty="0"/>
          </a:p>
        </p:txBody>
      </p:sp>
      <p:sp>
        <p:nvSpPr>
          <p:cNvPr id="14" name="Text 12"/>
          <p:cNvSpPr/>
          <p:nvPr/>
        </p:nvSpPr>
        <p:spPr>
          <a:xfrm>
            <a:off x="812780" y="6273643"/>
            <a:ext cx="1107000" cy="177796"/>
          </a:xfrm>
          <a:prstGeom prst="rect">
            <a:avLst/>
          </a:prstGeom>
          <a:noFill/>
          <a:ln/>
        </p:spPr>
        <p:txBody>
          <a:bodyPr wrap="squar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Pivot into Tech</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3CC7BD"/>
                </a:solidFill>
                <a:latin typeface="Arial" pitchFamily="34" charset="0"/>
                <a:ea typeface="Arial" pitchFamily="34" charset="-122"/>
                <a:cs typeface="Arial" pitchFamily="34" charset="-120"/>
              </a:rPr>
              <a:t>COMPOUND CLICK · YOU DRIVE</a:t>
            </a:r>
            <a:endParaRPr lang="en-US" sz="1400" dirty="0"/>
          </a:p>
        </p:txBody>
      </p:sp>
      <p:sp>
        <p:nvSpPr>
          <p:cNvPr id="3" name="Text 1"/>
          <p:cNvSpPr/>
          <p:nvPr/>
        </p:nvSpPr>
        <p:spPr>
          <a:xfrm>
            <a:off x="812780" y="1269968"/>
            <a:ext cx="11834072" cy="586666"/>
          </a:xfrm>
          <a:prstGeom prst="rect">
            <a:avLst/>
          </a:prstGeom>
          <a:noFill/>
          <a:ln/>
        </p:spPr>
        <p:txBody>
          <a:bodyPr wrap="none" lIns="0" tIns="0" rIns="0" bIns="0" rtlCol="0" anchor="t"/>
          <a:lstStyle/>
          <a:p>
            <a:pPr algn="l" indent="0" marL="0">
              <a:lnSpc>
                <a:spcPts val="4620"/>
              </a:lnSpc>
              <a:buNone/>
            </a:pPr>
            <a:r>
              <a:rPr lang="en-US" sz="4400" b="1" dirty="0">
                <a:solidFill>
                  <a:srgbClr val="EEF2F6"/>
                </a:solidFill>
                <a:latin typeface="Arial" pitchFamily="34" charset="0"/>
                <a:ea typeface="Arial" pitchFamily="34" charset="-122"/>
                <a:cs typeface="Arial" pitchFamily="34" charset="-120"/>
              </a:rPr>
              <a:t>Trigger. Logic. Feedback.</a:t>
            </a:r>
            <a:endParaRPr lang="en-US" sz="4400" dirty="0"/>
          </a:p>
        </p:txBody>
      </p:sp>
      <p:sp>
        <p:nvSpPr>
          <p:cNvPr id="4" name="Shape 2"/>
          <p:cNvSpPr/>
          <p:nvPr/>
        </p:nvSpPr>
        <p:spPr>
          <a:xfrm>
            <a:off x="812780" y="2110628"/>
            <a:ext cx="3047924" cy="1337237"/>
          </a:xfrm>
          <a:prstGeom prst="roundRect">
            <a:avLst>
              <a:gd name="adj" fmla="val 9497"/>
            </a:avLst>
          </a:prstGeom>
          <a:solidFill>
            <a:srgbClr val="16222D"/>
          </a:solidFill>
          <a:ln w="6350">
            <a:solidFill>
              <a:srgbClr val="26384A"/>
            </a:solidFill>
            <a:prstDash val="solid"/>
          </a:ln>
        </p:spPr>
      </p:sp>
      <p:sp>
        <p:nvSpPr>
          <p:cNvPr id="5" name="Text 3"/>
          <p:cNvSpPr/>
          <p:nvPr/>
        </p:nvSpPr>
        <p:spPr>
          <a:xfrm>
            <a:off x="1022324" y="2320172"/>
            <a:ext cx="2944294" cy="321262"/>
          </a:xfrm>
          <a:prstGeom prst="rect">
            <a:avLst/>
          </a:prstGeom>
          <a:noFill/>
          <a:ln/>
        </p:spPr>
        <p:txBody>
          <a:bodyPr wrap="none" lIns="0" tIns="0" rIns="0" bIns="0" rtlCol="0" anchor="t"/>
          <a:lstStyle/>
          <a:p>
            <a:pPr algn="l" indent="0" marL="0">
              <a:lnSpc>
                <a:spcPts val="2530"/>
              </a:lnSpc>
              <a:buNone/>
            </a:pPr>
            <a:r>
              <a:rPr lang="en-US" sz="2200" b="1" dirty="0">
                <a:solidFill>
                  <a:srgbClr val="3CC7BD"/>
                </a:solidFill>
                <a:latin typeface="Arial" pitchFamily="34" charset="0"/>
                <a:ea typeface="Arial" pitchFamily="34" charset="-122"/>
                <a:cs typeface="Arial" pitchFamily="34" charset="-120"/>
              </a:rPr>
              <a:t>Trigger</a:t>
            </a:r>
            <a:endParaRPr lang="en-US" sz="2200" dirty="0"/>
          </a:p>
        </p:txBody>
      </p:sp>
      <p:sp>
        <p:nvSpPr>
          <p:cNvPr id="6" name="Text 4"/>
          <p:cNvSpPr/>
          <p:nvPr/>
        </p:nvSpPr>
        <p:spPr>
          <a:xfrm>
            <a:off x="1022324" y="2704933"/>
            <a:ext cx="2720843"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Something happens: a tap, a click, a key</a:t>
            </a:r>
            <a:endParaRPr lang="en-US" sz="1500" dirty="0"/>
          </a:p>
        </p:txBody>
      </p:sp>
      <p:sp>
        <p:nvSpPr>
          <p:cNvPr id="7" name="Shape 5"/>
          <p:cNvSpPr/>
          <p:nvPr/>
        </p:nvSpPr>
        <p:spPr>
          <a:xfrm>
            <a:off x="3987700" y="2626850"/>
            <a:ext cx="457189" cy="304792"/>
          </a:xfrm>
          <a:prstGeom prst="rect">
            <a:avLst/>
          </a:prstGeom>
          <a:solidFill>
            <a:srgbClr val="3CC7BD"/>
          </a:solidFill>
          <a:ln/>
        </p:spPr>
      </p:sp>
      <p:sp>
        <p:nvSpPr>
          <p:cNvPr id="8" name="Shape 6"/>
          <p:cNvSpPr/>
          <p:nvPr/>
        </p:nvSpPr>
        <p:spPr>
          <a:xfrm>
            <a:off x="4571886" y="2110628"/>
            <a:ext cx="3047924" cy="1337237"/>
          </a:xfrm>
          <a:prstGeom prst="roundRect">
            <a:avLst>
              <a:gd name="adj" fmla="val 9497"/>
            </a:avLst>
          </a:prstGeom>
          <a:solidFill>
            <a:srgbClr val="16222D"/>
          </a:solidFill>
          <a:ln w="6350">
            <a:solidFill>
              <a:srgbClr val="26384A"/>
            </a:solidFill>
            <a:prstDash val="solid"/>
          </a:ln>
        </p:spPr>
      </p:sp>
      <p:sp>
        <p:nvSpPr>
          <p:cNvPr id="9" name="Text 7"/>
          <p:cNvSpPr/>
          <p:nvPr/>
        </p:nvSpPr>
        <p:spPr>
          <a:xfrm>
            <a:off x="4781430" y="2320172"/>
            <a:ext cx="2944294" cy="321262"/>
          </a:xfrm>
          <a:prstGeom prst="rect">
            <a:avLst/>
          </a:prstGeom>
          <a:noFill/>
          <a:ln/>
        </p:spPr>
        <p:txBody>
          <a:bodyPr wrap="none" lIns="0" tIns="0" rIns="0" bIns="0" rtlCol="0" anchor="t"/>
          <a:lstStyle/>
          <a:p>
            <a:pPr algn="l" indent="0" marL="0">
              <a:lnSpc>
                <a:spcPts val="2530"/>
              </a:lnSpc>
              <a:buNone/>
            </a:pPr>
            <a:r>
              <a:rPr lang="en-US" sz="2200" b="1" dirty="0">
                <a:solidFill>
                  <a:srgbClr val="3CC7BD"/>
                </a:solidFill>
                <a:latin typeface="Arial" pitchFamily="34" charset="0"/>
                <a:ea typeface="Arial" pitchFamily="34" charset="-122"/>
                <a:cs typeface="Arial" pitchFamily="34" charset="-120"/>
              </a:rPr>
              <a:t>Logic</a:t>
            </a:r>
            <a:endParaRPr lang="en-US" sz="2200" dirty="0"/>
          </a:p>
        </p:txBody>
      </p:sp>
      <p:sp>
        <p:nvSpPr>
          <p:cNvPr id="10" name="Text 8"/>
          <p:cNvSpPr/>
          <p:nvPr/>
        </p:nvSpPr>
        <p:spPr>
          <a:xfrm>
            <a:off x="4781430" y="2704933"/>
            <a:ext cx="2720843"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The app decides: add 10 to Savings</a:t>
            </a:r>
            <a:endParaRPr lang="en-US" sz="1500" dirty="0"/>
          </a:p>
        </p:txBody>
      </p:sp>
      <p:sp>
        <p:nvSpPr>
          <p:cNvPr id="11" name="Shape 9"/>
          <p:cNvSpPr/>
          <p:nvPr/>
        </p:nvSpPr>
        <p:spPr>
          <a:xfrm>
            <a:off x="7746806" y="2626850"/>
            <a:ext cx="457189" cy="304792"/>
          </a:xfrm>
          <a:prstGeom prst="rect">
            <a:avLst/>
          </a:prstGeom>
          <a:solidFill>
            <a:srgbClr val="3CC7BD"/>
          </a:solidFill>
          <a:ln/>
        </p:spPr>
      </p:sp>
      <p:sp>
        <p:nvSpPr>
          <p:cNvPr id="12" name="Shape 10"/>
          <p:cNvSpPr/>
          <p:nvPr/>
        </p:nvSpPr>
        <p:spPr>
          <a:xfrm>
            <a:off x="8330992" y="2110628"/>
            <a:ext cx="3047924" cy="1337237"/>
          </a:xfrm>
          <a:prstGeom prst="roundRect">
            <a:avLst>
              <a:gd name="adj" fmla="val 9497"/>
            </a:avLst>
          </a:prstGeom>
          <a:solidFill>
            <a:srgbClr val="16222D"/>
          </a:solidFill>
          <a:ln w="6350">
            <a:solidFill>
              <a:srgbClr val="26384A"/>
            </a:solidFill>
            <a:prstDash val="solid"/>
          </a:ln>
        </p:spPr>
      </p:sp>
      <p:sp>
        <p:nvSpPr>
          <p:cNvPr id="13" name="Text 11"/>
          <p:cNvSpPr/>
          <p:nvPr/>
        </p:nvSpPr>
        <p:spPr>
          <a:xfrm>
            <a:off x="8540536" y="2320172"/>
            <a:ext cx="2944294" cy="321262"/>
          </a:xfrm>
          <a:prstGeom prst="rect">
            <a:avLst/>
          </a:prstGeom>
          <a:noFill/>
          <a:ln/>
        </p:spPr>
        <p:txBody>
          <a:bodyPr wrap="none" lIns="0" tIns="0" rIns="0" bIns="0" rtlCol="0" anchor="t"/>
          <a:lstStyle/>
          <a:p>
            <a:pPr algn="l" indent="0" marL="0">
              <a:lnSpc>
                <a:spcPts val="2530"/>
              </a:lnSpc>
              <a:buNone/>
            </a:pPr>
            <a:r>
              <a:rPr lang="en-US" sz="2200" b="1" dirty="0">
                <a:solidFill>
                  <a:srgbClr val="3CC7BD"/>
                </a:solidFill>
                <a:latin typeface="Arial" pitchFamily="34" charset="0"/>
                <a:ea typeface="Arial" pitchFamily="34" charset="-122"/>
                <a:cs typeface="Arial" pitchFamily="34" charset="-120"/>
              </a:rPr>
              <a:t>Feedback</a:t>
            </a:r>
            <a:endParaRPr lang="en-US" sz="2200" dirty="0"/>
          </a:p>
        </p:txBody>
      </p:sp>
      <p:sp>
        <p:nvSpPr>
          <p:cNvPr id="14" name="Text 12"/>
          <p:cNvSpPr/>
          <p:nvPr/>
        </p:nvSpPr>
        <p:spPr>
          <a:xfrm>
            <a:off x="8540536" y="2704933"/>
            <a:ext cx="2720843" cy="533387"/>
          </a:xfrm>
          <a:prstGeom prst="rect">
            <a:avLst/>
          </a:prstGeom>
          <a:noFill/>
          <a:ln/>
        </p:spPr>
        <p:txBody>
          <a:bodyPr wrap="squar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The app answers: a number, a sound, a flash</a:t>
            </a:r>
            <a:endParaRPr lang="en-US" sz="1500" dirty="0"/>
          </a:p>
        </p:txBody>
      </p:sp>
      <p:sp>
        <p:nvSpPr>
          <p:cNvPr id="15" name="Text 13"/>
          <p:cNvSpPr/>
          <p:nvPr/>
        </p:nvSpPr>
        <p:spPr>
          <a:xfrm>
            <a:off x="812780" y="3701858"/>
            <a:ext cx="11834072" cy="302213"/>
          </a:xfrm>
          <a:prstGeom prst="rect">
            <a:avLst/>
          </a:prstGeom>
          <a:noFill/>
          <a:ln/>
        </p:spPr>
        <p:txBody>
          <a:bodyPr wrap="none" lIns="0" tIns="0" rIns="0" bIns="0" rtlCol="0" anchor="t"/>
          <a:lstStyle/>
          <a:p>
            <a:pPr algn="l" indent="0" marL="0">
              <a:lnSpc>
                <a:spcPts val="2380"/>
              </a:lnSpc>
              <a:buNone/>
            </a:pPr>
            <a:r>
              <a:rPr lang="en-US" sz="1700" dirty="0">
                <a:solidFill>
                  <a:srgbClr val="B7C4D1"/>
                </a:solidFill>
                <a:latin typeface="Arial" pitchFamily="34" charset="0"/>
                <a:ea typeface="Arial" pitchFamily="34" charset="-122"/>
                <a:cs typeface="Arial" pitchFamily="34" charset="-120"/>
              </a:rPr>
              <a:t>Every banking app you have ever used does this.</a:t>
            </a:r>
            <a:endParaRPr lang="en-US" sz="1700" dirty="0"/>
          </a:p>
        </p:txBody>
      </p:sp>
      <p:sp>
        <p:nvSpPr>
          <p:cNvPr id="16" name="Text 14"/>
          <p:cNvSpPr/>
          <p:nvPr/>
        </p:nvSpPr>
        <p:spPr>
          <a:xfrm>
            <a:off x="812780" y="6273643"/>
            <a:ext cx="2571257"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Open Scratch. No sign-in needed.</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3CC7BD"/>
                </a:solidFill>
                <a:latin typeface="Arial" pitchFamily="34" charset="0"/>
                <a:ea typeface="Arial" pitchFamily="34" charset="-122"/>
                <a:cs typeface="Arial" pitchFamily="34" charset="-120"/>
              </a:rPr>
              <a:t>PRACTICE FIRST</a:t>
            </a:r>
            <a:endParaRPr lang="en-US" sz="1400" dirty="0"/>
          </a:p>
        </p:txBody>
      </p:sp>
      <p:sp>
        <p:nvSpPr>
          <p:cNvPr id="3" name="Text 1"/>
          <p:cNvSpPr/>
          <p:nvPr/>
        </p:nvSpPr>
        <p:spPr>
          <a:xfrm>
            <a:off x="812780" y="1269968"/>
            <a:ext cx="11834072" cy="533387"/>
          </a:xfrm>
          <a:prstGeom prst="rect">
            <a:avLst/>
          </a:prstGeom>
          <a:noFill/>
          <a:ln/>
        </p:spPr>
        <p:txBody>
          <a:bodyPr wrap="none" lIns="0" tIns="0" rIns="0" bIns="0" rtlCol="0" anchor="t"/>
          <a:lstStyle/>
          <a:p>
            <a:pPr algn="l" indent="0" marL="0">
              <a:lnSpc>
                <a:spcPts val="4200"/>
              </a:lnSpc>
              <a:buNone/>
            </a:pPr>
            <a:r>
              <a:rPr lang="en-US" sz="4000" b="1" dirty="0">
                <a:solidFill>
                  <a:srgbClr val="EEF2F6"/>
                </a:solidFill>
                <a:latin typeface="Arial" pitchFamily="34" charset="0"/>
                <a:ea typeface="Arial" pitchFamily="34" charset="-122"/>
                <a:cs typeface="Arial" pitchFamily="34" charset="-120"/>
              </a:rPr>
              <a:t>Predict. Run. Investigate. Modify.</a:t>
            </a:r>
            <a:endParaRPr lang="en-US" sz="4000" dirty="0"/>
          </a:p>
        </p:txBody>
      </p:sp>
      <p:sp>
        <p:nvSpPr>
          <p:cNvPr id="4" name="Shape 2"/>
          <p:cNvSpPr/>
          <p:nvPr/>
        </p:nvSpPr>
        <p:spPr>
          <a:xfrm>
            <a:off x="812780" y="2057349"/>
            <a:ext cx="3936902" cy="2016670"/>
          </a:xfrm>
          <a:prstGeom prst="roundRect">
            <a:avLst>
              <a:gd name="adj" fmla="val 6297"/>
            </a:avLst>
          </a:prstGeom>
          <a:solidFill>
            <a:srgbClr val="16222D"/>
          </a:solidFill>
          <a:ln w="6350">
            <a:solidFill>
              <a:srgbClr val="26384A"/>
            </a:solidFill>
            <a:prstDash val="solid"/>
          </a:ln>
        </p:spPr>
      </p:sp>
      <p:sp>
        <p:nvSpPr>
          <p:cNvPr id="5" name="Text 3"/>
          <p:cNvSpPr/>
          <p:nvPr/>
        </p:nvSpPr>
        <p:spPr>
          <a:xfrm>
            <a:off x="1073123" y="2317692"/>
            <a:ext cx="3826160" cy="196845"/>
          </a:xfrm>
          <a:prstGeom prst="rect">
            <a:avLst/>
          </a:prstGeom>
          <a:noFill/>
          <a:ln/>
        </p:spPr>
        <p:txBody>
          <a:bodyPr wrap="none" lIns="0" tIns="0" rIns="0" bIns="0" rtlCol="0" anchor="t"/>
          <a:lstStyle/>
          <a:p>
            <a:pPr algn="l" indent="0" marL="0">
              <a:lnSpc>
                <a:spcPts val="1690"/>
              </a:lnSpc>
              <a:buNone/>
            </a:pPr>
            <a:r>
              <a:rPr lang="en-US" sz="1300" b="1" spc="100" kern="0" dirty="0">
                <a:solidFill>
                  <a:srgbClr val="8FA3B5"/>
                </a:solidFill>
                <a:latin typeface="Arial" pitchFamily="34" charset="0"/>
                <a:ea typeface="Arial" pitchFamily="34" charset="-122"/>
                <a:cs typeface="Arial" pitchFamily="34" charset="-120"/>
              </a:rPr>
              <a:t>TWO BLOCKS</a:t>
            </a:r>
            <a:endParaRPr lang="en-US" sz="1300" dirty="0"/>
          </a:p>
        </p:txBody>
      </p:sp>
      <p:sp>
        <p:nvSpPr>
          <p:cNvPr id="6" name="Text 4"/>
          <p:cNvSpPr/>
          <p:nvPr/>
        </p:nvSpPr>
        <p:spPr>
          <a:xfrm>
            <a:off x="1073123" y="2603435"/>
            <a:ext cx="3826160" cy="234944"/>
          </a:xfrm>
          <a:prstGeom prst="rect">
            <a:avLst/>
          </a:prstGeom>
          <a:noFill/>
          <a:ln/>
        </p:spPr>
        <p:txBody>
          <a:bodyPr wrap="none" lIns="0" tIns="0" rIns="0" bIns="0" rtlCol="0" anchor="t"/>
          <a:lstStyle/>
          <a:p>
            <a:pPr algn="l" indent="0" marL="0">
              <a:lnSpc>
                <a:spcPts val="2080"/>
              </a:lnSpc>
              <a:buNone/>
            </a:pPr>
            <a:r>
              <a:rPr lang="en-US" sz="1600" dirty="0">
                <a:solidFill>
                  <a:srgbClr val="FFB35C"/>
                </a:solidFill>
                <a:latin typeface="Consolas" pitchFamily="34" charset="0"/>
                <a:ea typeface="Consolas" pitchFamily="34" charset="-122"/>
                <a:cs typeface="Consolas" pitchFamily="34" charset="-120"/>
              </a:rPr>
              <a:t>when this sprite clicked</a:t>
            </a:r>
            <a:endParaRPr lang="en-US" sz="1600" dirty="0"/>
          </a:p>
        </p:txBody>
      </p:sp>
      <p:sp>
        <p:nvSpPr>
          <p:cNvPr id="7" name="Text 5"/>
          <p:cNvSpPr/>
          <p:nvPr/>
        </p:nvSpPr>
        <p:spPr>
          <a:xfrm>
            <a:off x="1073123" y="2927277"/>
            <a:ext cx="3826160" cy="234944"/>
          </a:xfrm>
          <a:prstGeom prst="rect">
            <a:avLst/>
          </a:prstGeom>
          <a:noFill/>
          <a:ln/>
        </p:spPr>
        <p:txBody>
          <a:bodyPr wrap="none" lIns="0" tIns="0" rIns="0" bIns="0" rtlCol="0" anchor="t"/>
          <a:lstStyle/>
          <a:p>
            <a:pPr algn="l" indent="0" marL="0">
              <a:lnSpc>
                <a:spcPts val="2080"/>
              </a:lnSpc>
              <a:buNone/>
            </a:pPr>
            <a:r>
              <a:rPr lang="en-US" sz="1600" dirty="0">
                <a:solidFill>
                  <a:srgbClr val="EEF2F6"/>
                </a:solidFill>
                <a:latin typeface="Consolas" pitchFamily="34" charset="0"/>
                <a:ea typeface="Consolas" pitchFamily="34" charset="-122"/>
                <a:cs typeface="Consolas" pitchFamily="34" charset="-120"/>
              </a:rPr>
              <a:t>say Hello! for 2 seconds</a:t>
            </a:r>
            <a:endParaRPr lang="en-US" sz="1600" dirty="0"/>
          </a:p>
        </p:txBody>
      </p:sp>
      <p:sp>
        <p:nvSpPr>
          <p:cNvPr id="8" name="Text 6"/>
          <p:cNvSpPr/>
          <p:nvPr/>
        </p:nvSpPr>
        <p:spPr>
          <a:xfrm>
            <a:off x="1073123" y="3251119"/>
            <a:ext cx="3826160" cy="266693"/>
          </a:xfrm>
          <a:prstGeom prst="rect">
            <a:avLst/>
          </a:prstGeom>
          <a:noFill/>
          <a:ln/>
        </p:spPr>
        <p:txBody>
          <a:bodyPr wrap="none" lIns="0" tIns="0" rIns="0" bIns="0" rtlCol="0" anchor="t"/>
          <a:lstStyle/>
          <a:p>
            <a:pPr algn="l" indent="0" marL="0">
              <a:lnSpc>
                <a:spcPts val="2100"/>
              </a:lnSpc>
              <a:buNone/>
            </a:pPr>
            <a:r>
              <a:rPr lang="en-US" sz="1500" dirty="0">
                <a:solidFill>
                  <a:srgbClr val="B7C4D1"/>
                </a:solidFill>
                <a:latin typeface="Arial" pitchFamily="34" charset="0"/>
                <a:ea typeface="Arial" pitchFamily="34" charset="-122"/>
                <a:cs typeface="Arial" pitchFamily="34" charset="-120"/>
              </a:rPr>
              <a:t>What happens when the cat is clicked?</a:t>
            </a:r>
            <a:endParaRPr lang="en-US" sz="1500" dirty="0"/>
          </a:p>
        </p:txBody>
      </p:sp>
      <p:sp>
        <p:nvSpPr>
          <p:cNvPr id="9" name="Shape 7"/>
          <p:cNvSpPr/>
          <p:nvPr/>
        </p:nvSpPr>
        <p:spPr>
          <a:xfrm>
            <a:off x="4952876" y="2057349"/>
            <a:ext cx="3149521" cy="944837"/>
          </a:xfrm>
          <a:prstGeom prst="roundRect">
            <a:avLst>
              <a:gd name="adj" fmla="val 13441"/>
            </a:avLst>
          </a:prstGeom>
          <a:solidFill>
            <a:srgbClr val="16222D"/>
          </a:solidFill>
          <a:ln w="6350">
            <a:solidFill>
              <a:srgbClr val="26384A"/>
            </a:solidFill>
            <a:prstDash val="solid"/>
          </a:ln>
        </p:spPr>
      </p:sp>
      <p:sp>
        <p:nvSpPr>
          <p:cNvPr id="10" name="Text 8"/>
          <p:cNvSpPr/>
          <p:nvPr/>
        </p:nvSpPr>
        <p:spPr>
          <a:xfrm>
            <a:off x="5137022" y="2241494"/>
            <a:ext cx="3114978" cy="285743"/>
          </a:xfrm>
          <a:prstGeom prst="rect">
            <a:avLst/>
          </a:prstGeom>
          <a:noFill/>
          <a:ln/>
        </p:spPr>
        <p:txBody>
          <a:bodyPr wrap="none" lIns="0" tIns="0" rIns="0" bIns="0" rtlCol="0" anchor="t"/>
          <a:lstStyle/>
          <a:p>
            <a:pPr algn="l" indent="0" marL="0">
              <a:lnSpc>
                <a:spcPts val="2600"/>
              </a:lnSpc>
              <a:buNone/>
            </a:pPr>
            <a:r>
              <a:rPr lang="en-US" sz="2000" b="1" dirty="0">
                <a:solidFill>
                  <a:srgbClr val="3CC7BD"/>
                </a:solidFill>
                <a:latin typeface="Arial" pitchFamily="34" charset="0"/>
                <a:ea typeface="Arial" pitchFamily="34" charset="-122"/>
                <a:cs typeface="Arial" pitchFamily="34" charset="-120"/>
              </a:rPr>
              <a:t>Predict</a:t>
            </a:r>
            <a:endParaRPr lang="en-US" sz="2000" dirty="0"/>
          </a:p>
        </p:txBody>
      </p:sp>
      <p:sp>
        <p:nvSpPr>
          <p:cNvPr id="11" name="Text 9"/>
          <p:cNvSpPr/>
          <p:nvPr/>
        </p:nvSpPr>
        <p:spPr>
          <a:xfrm>
            <a:off x="5137022" y="2578036"/>
            <a:ext cx="3114978"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Guess before it runs</a:t>
            </a:r>
            <a:endParaRPr lang="en-US" sz="1400" dirty="0"/>
          </a:p>
        </p:txBody>
      </p:sp>
      <p:sp>
        <p:nvSpPr>
          <p:cNvPr id="12" name="Shape 10"/>
          <p:cNvSpPr/>
          <p:nvPr/>
        </p:nvSpPr>
        <p:spPr>
          <a:xfrm>
            <a:off x="8229394" y="2057349"/>
            <a:ext cx="3149521" cy="944837"/>
          </a:xfrm>
          <a:prstGeom prst="roundRect">
            <a:avLst>
              <a:gd name="adj" fmla="val 13441"/>
            </a:avLst>
          </a:prstGeom>
          <a:solidFill>
            <a:srgbClr val="16222D"/>
          </a:solidFill>
          <a:ln w="6350">
            <a:solidFill>
              <a:srgbClr val="26384A"/>
            </a:solidFill>
            <a:prstDash val="solid"/>
          </a:ln>
        </p:spPr>
      </p:sp>
      <p:sp>
        <p:nvSpPr>
          <p:cNvPr id="13" name="Text 11"/>
          <p:cNvSpPr/>
          <p:nvPr/>
        </p:nvSpPr>
        <p:spPr>
          <a:xfrm>
            <a:off x="8413540" y="2241494"/>
            <a:ext cx="3114978" cy="285743"/>
          </a:xfrm>
          <a:prstGeom prst="rect">
            <a:avLst/>
          </a:prstGeom>
          <a:noFill/>
          <a:ln/>
        </p:spPr>
        <p:txBody>
          <a:bodyPr wrap="none" lIns="0" tIns="0" rIns="0" bIns="0" rtlCol="0" anchor="t"/>
          <a:lstStyle/>
          <a:p>
            <a:pPr algn="l" indent="0" marL="0">
              <a:lnSpc>
                <a:spcPts val="2600"/>
              </a:lnSpc>
              <a:buNone/>
            </a:pPr>
            <a:r>
              <a:rPr lang="en-US" sz="2000" b="1" dirty="0">
                <a:solidFill>
                  <a:srgbClr val="3CC7BD"/>
                </a:solidFill>
                <a:latin typeface="Arial" pitchFamily="34" charset="0"/>
                <a:ea typeface="Arial" pitchFamily="34" charset="-122"/>
                <a:cs typeface="Arial" pitchFamily="34" charset="-120"/>
              </a:rPr>
              <a:t>Run</a:t>
            </a:r>
            <a:endParaRPr lang="en-US" sz="2000" dirty="0"/>
          </a:p>
        </p:txBody>
      </p:sp>
      <p:sp>
        <p:nvSpPr>
          <p:cNvPr id="14" name="Text 12"/>
          <p:cNvSpPr/>
          <p:nvPr/>
        </p:nvSpPr>
        <p:spPr>
          <a:xfrm>
            <a:off x="8413540" y="2578036"/>
            <a:ext cx="3114978"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Watch what happens</a:t>
            </a:r>
            <a:endParaRPr lang="en-US" sz="1400" dirty="0"/>
          </a:p>
        </p:txBody>
      </p:sp>
      <p:sp>
        <p:nvSpPr>
          <p:cNvPr id="15" name="Shape 13"/>
          <p:cNvSpPr/>
          <p:nvPr/>
        </p:nvSpPr>
        <p:spPr>
          <a:xfrm>
            <a:off x="4952876" y="3129182"/>
            <a:ext cx="3149521" cy="944837"/>
          </a:xfrm>
          <a:prstGeom prst="roundRect">
            <a:avLst>
              <a:gd name="adj" fmla="val 13441"/>
            </a:avLst>
          </a:prstGeom>
          <a:solidFill>
            <a:srgbClr val="16222D"/>
          </a:solidFill>
          <a:ln w="6350">
            <a:solidFill>
              <a:srgbClr val="26384A"/>
            </a:solidFill>
            <a:prstDash val="solid"/>
          </a:ln>
        </p:spPr>
      </p:sp>
      <p:sp>
        <p:nvSpPr>
          <p:cNvPr id="16" name="Text 14"/>
          <p:cNvSpPr/>
          <p:nvPr/>
        </p:nvSpPr>
        <p:spPr>
          <a:xfrm>
            <a:off x="5137022" y="3313327"/>
            <a:ext cx="3114978" cy="285743"/>
          </a:xfrm>
          <a:prstGeom prst="rect">
            <a:avLst/>
          </a:prstGeom>
          <a:noFill/>
          <a:ln/>
        </p:spPr>
        <p:txBody>
          <a:bodyPr wrap="none" lIns="0" tIns="0" rIns="0" bIns="0" rtlCol="0" anchor="t"/>
          <a:lstStyle/>
          <a:p>
            <a:pPr algn="l" indent="0" marL="0">
              <a:lnSpc>
                <a:spcPts val="2600"/>
              </a:lnSpc>
              <a:buNone/>
            </a:pPr>
            <a:r>
              <a:rPr lang="en-US" sz="2000" b="1" dirty="0">
                <a:solidFill>
                  <a:srgbClr val="3CC7BD"/>
                </a:solidFill>
                <a:latin typeface="Arial" pitchFamily="34" charset="0"/>
                <a:ea typeface="Arial" pitchFamily="34" charset="-122"/>
                <a:cs typeface="Arial" pitchFamily="34" charset="-120"/>
              </a:rPr>
              <a:t>Investigate</a:t>
            </a:r>
            <a:endParaRPr lang="en-US" sz="2000" dirty="0"/>
          </a:p>
        </p:txBody>
      </p:sp>
      <p:sp>
        <p:nvSpPr>
          <p:cNvPr id="17" name="Text 15"/>
          <p:cNvSpPr/>
          <p:nvPr/>
        </p:nvSpPr>
        <p:spPr>
          <a:xfrm>
            <a:off x="5137022" y="3649869"/>
            <a:ext cx="3114978"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Which block listens? Which acts?</a:t>
            </a:r>
            <a:endParaRPr lang="en-US" sz="1400" dirty="0"/>
          </a:p>
        </p:txBody>
      </p:sp>
      <p:sp>
        <p:nvSpPr>
          <p:cNvPr id="18" name="Shape 16"/>
          <p:cNvSpPr/>
          <p:nvPr/>
        </p:nvSpPr>
        <p:spPr>
          <a:xfrm>
            <a:off x="8229394" y="3129182"/>
            <a:ext cx="3149521" cy="944837"/>
          </a:xfrm>
          <a:prstGeom prst="roundRect">
            <a:avLst>
              <a:gd name="adj" fmla="val 13441"/>
            </a:avLst>
          </a:prstGeom>
          <a:solidFill>
            <a:srgbClr val="16222D"/>
          </a:solidFill>
          <a:ln w="6350">
            <a:solidFill>
              <a:srgbClr val="26384A"/>
            </a:solidFill>
            <a:prstDash val="solid"/>
          </a:ln>
        </p:spPr>
      </p:sp>
      <p:sp>
        <p:nvSpPr>
          <p:cNvPr id="19" name="Text 17"/>
          <p:cNvSpPr/>
          <p:nvPr/>
        </p:nvSpPr>
        <p:spPr>
          <a:xfrm>
            <a:off x="8413540" y="3313327"/>
            <a:ext cx="3114978" cy="285743"/>
          </a:xfrm>
          <a:prstGeom prst="rect">
            <a:avLst/>
          </a:prstGeom>
          <a:noFill/>
          <a:ln/>
        </p:spPr>
        <p:txBody>
          <a:bodyPr wrap="none" lIns="0" tIns="0" rIns="0" bIns="0" rtlCol="0" anchor="t"/>
          <a:lstStyle/>
          <a:p>
            <a:pPr algn="l" indent="0" marL="0">
              <a:lnSpc>
                <a:spcPts val="2600"/>
              </a:lnSpc>
              <a:buNone/>
            </a:pPr>
            <a:r>
              <a:rPr lang="en-US" sz="2000" b="1" dirty="0">
                <a:solidFill>
                  <a:srgbClr val="3CC7BD"/>
                </a:solidFill>
                <a:latin typeface="Arial" pitchFamily="34" charset="0"/>
                <a:ea typeface="Arial" pitchFamily="34" charset="-122"/>
                <a:cs typeface="Arial" pitchFamily="34" charset="-120"/>
              </a:rPr>
              <a:t>Modify</a:t>
            </a:r>
            <a:endParaRPr lang="en-US" sz="2000" dirty="0"/>
          </a:p>
        </p:txBody>
      </p:sp>
      <p:sp>
        <p:nvSpPr>
          <p:cNvPr id="20" name="Text 18"/>
          <p:cNvSpPr/>
          <p:nvPr/>
        </p:nvSpPr>
        <p:spPr>
          <a:xfrm>
            <a:off x="8413540" y="3649869"/>
            <a:ext cx="3114978"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Change one thing, test again</a:t>
            </a:r>
            <a:endParaRPr lang="en-US" sz="1400" dirty="0"/>
          </a:p>
        </p:txBody>
      </p:sp>
      <p:sp>
        <p:nvSpPr>
          <p:cNvPr id="21" name="Text 19"/>
          <p:cNvSpPr/>
          <p:nvPr/>
        </p:nvSpPr>
        <p:spPr>
          <a:xfrm>
            <a:off x="812780" y="6273643"/>
            <a:ext cx="3895945"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Then right-click the cat and delete it. We start fresh.</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EF2F6"/>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0A6E69"/>
                </a:solidFill>
                <a:latin typeface="Arial" pitchFamily="34" charset="0"/>
                <a:ea typeface="Arial" pitchFamily="34" charset="-122"/>
                <a:cs typeface="Arial" pitchFamily="34" charset="-120"/>
              </a:rPr>
              <a:t>YOUR BUILD</a:t>
            </a:r>
            <a:endParaRPr lang="en-US" sz="1400" dirty="0"/>
          </a:p>
        </p:txBody>
      </p:sp>
      <p:sp>
        <p:nvSpPr>
          <p:cNvPr id="3" name="Text 1"/>
          <p:cNvSpPr/>
          <p:nvPr/>
        </p:nvSpPr>
        <p:spPr>
          <a:xfrm>
            <a:off x="812780" y="1244569"/>
            <a:ext cx="11834072" cy="506697"/>
          </a:xfrm>
          <a:prstGeom prst="rect">
            <a:avLst/>
          </a:prstGeom>
          <a:noFill/>
          <a:ln/>
        </p:spPr>
        <p:txBody>
          <a:bodyPr wrap="none" lIns="0" tIns="0" rIns="0" bIns="0" rtlCol="0" anchor="t"/>
          <a:lstStyle/>
          <a:p>
            <a:pPr algn="l" indent="0" marL="0">
              <a:lnSpc>
                <a:spcPts val="3990"/>
              </a:lnSpc>
              <a:buNone/>
            </a:pPr>
            <a:r>
              <a:rPr lang="en-US" sz="3800" b="1" dirty="0">
                <a:solidFill>
                  <a:srgbClr val="14202B"/>
                </a:solidFill>
                <a:latin typeface="Arial" pitchFamily="34" charset="0"/>
                <a:ea typeface="Arial" pitchFamily="34" charset="-122"/>
                <a:cs typeface="Arial" pitchFamily="34" charset="-120"/>
              </a:rPr>
              <a:t>Six steps. Any speed.</a:t>
            </a:r>
            <a:endParaRPr lang="en-US" sz="3800" dirty="0"/>
          </a:p>
        </p:txBody>
      </p:sp>
      <p:sp>
        <p:nvSpPr>
          <p:cNvPr id="4" name="Text 2"/>
          <p:cNvSpPr/>
          <p:nvPr/>
        </p:nvSpPr>
        <p:spPr>
          <a:xfrm>
            <a:off x="914377" y="2056059"/>
            <a:ext cx="719072" cy="215895"/>
          </a:xfrm>
          <a:prstGeom prst="rect">
            <a:avLst/>
          </a:prstGeom>
          <a:noFill/>
          <a:ln/>
        </p:spPr>
        <p:txBody>
          <a:bodyPr wrap="square" lIns="0" tIns="0" rIns="0" bIns="0" rtlCol="0" anchor="t"/>
          <a:lstStyle/>
          <a:p>
            <a:pPr algn="l" indent="0" marL="0">
              <a:lnSpc>
                <a:spcPts val="1950"/>
              </a:lnSpc>
              <a:buNone/>
            </a:pPr>
            <a:r>
              <a:rPr lang="en-US" sz="1500" b="1" dirty="0">
                <a:solidFill>
                  <a:srgbClr val="14202B"/>
                </a:solidFill>
                <a:latin typeface="Arial" pitchFamily="34" charset="0"/>
                <a:ea typeface="Arial" pitchFamily="34" charset="-122"/>
                <a:cs typeface="Arial" pitchFamily="34" charset="-120"/>
              </a:rPr>
              <a:t>Step</a:t>
            </a:r>
            <a:endParaRPr lang="en-US" sz="1500" dirty="0"/>
          </a:p>
        </p:txBody>
      </p:sp>
      <p:sp>
        <p:nvSpPr>
          <p:cNvPr id="5" name="Text 3"/>
          <p:cNvSpPr/>
          <p:nvPr/>
        </p:nvSpPr>
        <p:spPr>
          <a:xfrm>
            <a:off x="1759601" y="2056059"/>
            <a:ext cx="7109600" cy="215895"/>
          </a:xfrm>
          <a:prstGeom prst="rect">
            <a:avLst/>
          </a:prstGeom>
          <a:noFill/>
          <a:ln/>
        </p:spPr>
        <p:txBody>
          <a:bodyPr wrap="none" lIns="0" tIns="0" rIns="0" bIns="0" rtlCol="0" anchor="t"/>
          <a:lstStyle/>
          <a:p>
            <a:pPr algn="l" indent="0" marL="0">
              <a:lnSpc>
                <a:spcPts val="1950"/>
              </a:lnSpc>
              <a:buNone/>
            </a:pPr>
            <a:r>
              <a:rPr lang="en-US" sz="1500" b="1" dirty="0">
                <a:solidFill>
                  <a:srgbClr val="14202B"/>
                </a:solidFill>
                <a:latin typeface="Arial" pitchFamily="34" charset="0"/>
                <a:ea typeface="Arial" pitchFamily="34" charset="-122"/>
                <a:cs typeface="Arial" pitchFamily="34" charset="-120"/>
              </a:rPr>
              <a:t>You build</a:t>
            </a:r>
            <a:endParaRPr lang="en-US" sz="1500" dirty="0"/>
          </a:p>
        </p:txBody>
      </p:sp>
      <p:sp>
        <p:nvSpPr>
          <p:cNvPr id="6" name="Text 4"/>
          <p:cNvSpPr/>
          <p:nvPr/>
        </p:nvSpPr>
        <p:spPr>
          <a:xfrm>
            <a:off x="8310652" y="2056059"/>
            <a:ext cx="3322666" cy="215895"/>
          </a:xfrm>
          <a:prstGeom prst="rect">
            <a:avLst/>
          </a:prstGeom>
          <a:noFill/>
          <a:ln/>
        </p:spPr>
        <p:txBody>
          <a:bodyPr wrap="none" lIns="0" tIns="0" rIns="0" bIns="0" rtlCol="0" anchor="t"/>
          <a:lstStyle/>
          <a:p>
            <a:pPr algn="l" indent="0" marL="0">
              <a:lnSpc>
                <a:spcPts val="1950"/>
              </a:lnSpc>
              <a:buNone/>
            </a:pPr>
            <a:r>
              <a:rPr lang="en-US" sz="1500" b="1" dirty="0">
                <a:solidFill>
                  <a:srgbClr val="14202B"/>
                </a:solidFill>
                <a:latin typeface="Arial" pitchFamily="34" charset="0"/>
                <a:ea typeface="Arial" pitchFamily="34" charset="-122"/>
                <a:cs typeface="Arial" pitchFamily="34" charset="-120"/>
              </a:rPr>
              <a:t>About</a:t>
            </a:r>
            <a:endParaRPr lang="en-US" sz="1500" dirty="0"/>
          </a:p>
        </p:txBody>
      </p:sp>
      <p:sp>
        <p:nvSpPr>
          <p:cNvPr id="7" name="Text 5"/>
          <p:cNvSpPr/>
          <p:nvPr/>
        </p:nvSpPr>
        <p:spPr>
          <a:xfrm>
            <a:off x="914377" y="2424350"/>
            <a:ext cx="719072" cy="215895"/>
          </a:xfrm>
          <a:prstGeom prst="rect">
            <a:avLst/>
          </a:prstGeom>
          <a:noFill/>
          <a:ln/>
        </p:spPr>
        <p:txBody>
          <a:bodyPr wrap="squar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1759601" y="2424350"/>
            <a:ext cx="7109600"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Clear the stage: delete the cat, add Crystal</a:t>
            </a:r>
            <a:endParaRPr lang="en-US" sz="1500" dirty="0"/>
          </a:p>
        </p:txBody>
      </p:sp>
      <p:sp>
        <p:nvSpPr>
          <p:cNvPr id="9" name="Text 7"/>
          <p:cNvSpPr/>
          <p:nvPr/>
        </p:nvSpPr>
        <p:spPr>
          <a:xfrm>
            <a:off x="8310652" y="2424350"/>
            <a:ext cx="3322666"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3 minutes</a:t>
            </a:r>
            <a:endParaRPr lang="en-US" sz="1500" dirty="0"/>
          </a:p>
        </p:txBody>
      </p:sp>
      <p:sp>
        <p:nvSpPr>
          <p:cNvPr id="10" name="Text 8"/>
          <p:cNvSpPr/>
          <p:nvPr/>
        </p:nvSpPr>
        <p:spPr>
          <a:xfrm>
            <a:off x="914377" y="2792640"/>
            <a:ext cx="719072" cy="215895"/>
          </a:xfrm>
          <a:prstGeom prst="rect">
            <a:avLst/>
          </a:prstGeom>
          <a:noFill/>
          <a:ln/>
        </p:spPr>
        <p:txBody>
          <a:bodyPr wrap="squar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2</a:t>
            </a:r>
            <a:endParaRPr lang="en-US" sz="1500" dirty="0"/>
          </a:p>
        </p:txBody>
      </p:sp>
      <p:sp>
        <p:nvSpPr>
          <p:cNvPr id="11" name="Text 9"/>
          <p:cNvSpPr/>
          <p:nvPr/>
        </p:nvSpPr>
        <p:spPr>
          <a:xfrm>
            <a:off x="1759601" y="2792640"/>
            <a:ext cx="7109600"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Give it a memory: a variable called Savings</a:t>
            </a:r>
            <a:endParaRPr lang="en-US" sz="1500" dirty="0"/>
          </a:p>
        </p:txBody>
      </p:sp>
      <p:sp>
        <p:nvSpPr>
          <p:cNvPr id="12" name="Text 10"/>
          <p:cNvSpPr/>
          <p:nvPr/>
        </p:nvSpPr>
        <p:spPr>
          <a:xfrm>
            <a:off x="8310652" y="2792640"/>
            <a:ext cx="3322666"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2 minutes</a:t>
            </a:r>
            <a:endParaRPr lang="en-US" sz="1500" dirty="0"/>
          </a:p>
        </p:txBody>
      </p:sp>
      <p:sp>
        <p:nvSpPr>
          <p:cNvPr id="13" name="Text 11"/>
          <p:cNvSpPr/>
          <p:nvPr/>
        </p:nvSpPr>
        <p:spPr>
          <a:xfrm>
            <a:off x="914377" y="3160931"/>
            <a:ext cx="719072" cy="215895"/>
          </a:xfrm>
          <a:prstGeom prst="rect">
            <a:avLst/>
          </a:prstGeom>
          <a:noFill/>
          <a:ln/>
        </p:spPr>
        <p:txBody>
          <a:bodyPr wrap="squar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3</a:t>
            </a:r>
            <a:endParaRPr lang="en-US" sz="1500" dirty="0"/>
          </a:p>
        </p:txBody>
      </p:sp>
      <p:sp>
        <p:nvSpPr>
          <p:cNvPr id="14" name="Text 12"/>
          <p:cNvSpPr/>
          <p:nvPr/>
        </p:nvSpPr>
        <p:spPr>
          <a:xfrm>
            <a:off x="1759601" y="3160931"/>
            <a:ext cx="7109600"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Start at zero, plus an R key reset</a:t>
            </a:r>
            <a:endParaRPr lang="en-US" sz="1500" dirty="0"/>
          </a:p>
        </p:txBody>
      </p:sp>
      <p:sp>
        <p:nvSpPr>
          <p:cNvPr id="15" name="Text 13"/>
          <p:cNvSpPr/>
          <p:nvPr/>
        </p:nvSpPr>
        <p:spPr>
          <a:xfrm>
            <a:off x="8310652" y="3160931"/>
            <a:ext cx="3322666"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3 minutes</a:t>
            </a:r>
            <a:endParaRPr lang="en-US" sz="1500" dirty="0"/>
          </a:p>
        </p:txBody>
      </p:sp>
      <p:sp>
        <p:nvSpPr>
          <p:cNvPr id="16" name="Text 14"/>
          <p:cNvSpPr/>
          <p:nvPr/>
        </p:nvSpPr>
        <p:spPr>
          <a:xfrm>
            <a:off x="914377" y="3529222"/>
            <a:ext cx="719072" cy="215895"/>
          </a:xfrm>
          <a:prstGeom prst="rect">
            <a:avLst/>
          </a:prstGeom>
          <a:noFill/>
          <a:ln/>
        </p:spPr>
        <p:txBody>
          <a:bodyPr wrap="squar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4</a:t>
            </a:r>
            <a:endParaRPr lang="en-US" sz="1500" dirty="0"/>
          </a:p>
        </p:txBody>
      </p:sp>
      <p:sp>
        <p:nvSpPr>
          <p:cNvPr id="17" name="Text 15"/>
          <p:cNvSpPr/>
          <p:nvPr/>
        </p:nvSpPr>
        <p:spPr>
          <a:xfrm>
            <a:off x="1759601" y="3529222"/>
            <a:ext cx="7109600"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Make it respond: add 10, sound, colour flash</a:t>
            </a:r>
            <a:endParaRPr lang="en-US" sz="1500" dirty="0"/>
          </a:p>
        </p:txBody>
      </p:sp>
      <p:sp>
        <p:nvSpPr>
          <p:cNvPr id="18" name="Text 16"/>
          <p:cNvSpPr/>
          <p:nvPr/>
        </p:nvSpPr>
        <p:spPr>
          <a:xfrm>
            <a:off x="8310652" y="3529222"/>
            <a:ext cx="3322666"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7 minutes</a:t>
            </a:r>
            <a:endParaRPr lang="en-US" sz="1500" dirty="0"/>
          </a:p>
        </p:txBody>
      </p:sp>
      <p:sp>
        <p:nvSpPr>
          <p:cNvPr id="19" name="Text 17"/>
          <p:cNvSpPr/>
          <p:nvPr/>
        </p:nvSpPr>
        <p:spPr>
          <a:xfrm>
            <a:off x="914377" y="3897513"/>
            <a:ext cx="719072" cy="215895"/>
          </a:xfrm>
          <a:prstGeom prst="rect">
            <a:avLst/>
          </a:prstGeom>
          <a:noFill/>
          <a:ln/>
        </p:spPr>
        <p:txBody>
          <a:bodyPr wrap="squar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5</a:t>
            </a:r>
            <a:endParaRPr lang="en-US" sz="1500" dirty="0"/>
          </a:p>
        </p:txBody>
      </p:sp>
      <p:sp>
        <p:nvSpPr>
          <p:cNvPr id="20" name="Text 18"/>
          <p:cNvSpPr/>
          <p:nvPr/>
        </p:nvSpPr>
        <p:spPr>
          <a:xfrm>
            <a:off x="1759601" y="3897513"/>
            <a:ext cx="7109600"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Make it yours</a:t>
            </a:r>
            <a:endParaRPr lang="en-US" sz="1500" dirty="0"/>
          </a:p>
        </p:txBody>
      </p:sp>
      <p:sp>
        <p:nvSpPr>
          <p:cNvPr id="21" name="Text 19"/>
          <p:cNvSpPr/>
          <p:nvPr/>
        </p:nvSpPr>
        <p:spPr>
          <a:xfrm>
            <a:off x="8310652" y="3897513"/>
            <a:ext cx="3322666"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2 minutes</a:t>
            </a:r>
            <a:endParaRPr lang="en-US" sz="1500" dirty="0"/>
          </a:p>
        </p:txBody>
      </p:sp>
      <p:sp>
        <p:nvSpPr>
          <p:cNvPr id="22" name="Text 20"/>
          <p:cNvSpPr/>
          <p:nvPr/>
        </p:nvSpPr>
        <p:spPr>
          <a:xfrm>
            <a:off x="914377" y="4265804"/>
            <a:ext cx="719072" cy="215895"/>
          </a:xfrm>
          <a:prstGeom prst="rect">
            <a:avLst/>
          </a:prstGeom>
          <a:noFill/>
          <a:ln/>
        </p:spPr>
        <p:txBody>
          <a:bodyPr wrap="squar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6</a:t>
            </a:r>
            <a:endParaRPr lang="en-US" sz="1500" dirty="0"/>
          </a:p>
        </p:txBody>
      </p:sp>
      <p:sp>
        <p:nvSpPr>
          <p:cNvPr id="23" name="Text 21"/>
          <p:cNvSpPr/>
          <p:nvPr/>
        </p:nvSpPr>
        <p:spPr>
          <a:xfrm>
            <a:off x="1759601" y="4265804"/>
            <a:ext cx="7109600"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Stretch: celebrate when Savings passes 100</a:t>
            </a:r>
            <a:endParaRPr lang="en-US" sz="1500" dirty="0"/>
          </a:p>
        </p:txBody>
      </p:sp>
      <p:sp>
        <p:nvSpPr>
          <p:cNvPr id="24" name="Text 22"/>
          <p:cNvSpPr/>
          <p:nvPr/>
        </p:nvSpPr>
        <p:spPr>
          <a:xfrm>
            <a:off x="8310652" y="4265804"/>
            <a:ext cx="3322666" cy="215895"/>
          </a:xfrm>
          <a:prstGeom prst="rect">
            <a:avLst/>
          </a:prstGeom>
          <a:noFill/>
          <a:ln/>
        </p:spPr>
        <p:txBody>
          <a:bodyPr wrap="none" lIns="0" tIns="0" rIns="0" bIns="0" rtlCol="0" anchor="t"/>
          <a:lstStyle/>
          <a:p>
            <a:pPr algn="l" indent="0" marL="0">
              <a:lnSpc>
                <a:spcPts val="1950"/>
              </a:lnSpc>
              <a:buNone/>
            </a:pPr>
            <a:r>
              <a:rPr lang="en-US" sz="1500" dirty="0">
                <a:solidFill>
                  <a:srgbClr val="14202B"/>
                </a:solidFill>
                <a:latin typeface="Arial" pitchFamily="34" charset="0"/>
                <a:ea typeface="Arial" pitchFamily="34" charset="-122"/>
                <a:cs typeface="Arial" pitchFamily="34" charset="-120"/>
              </a:rPr>
              <a:t>1 minute</a:t>
            </a:r>
            <a:endParaRPr lang="en-US" sz="1500" dirty="0"/>
          </a:p>
        </p:txBody>
      </p:sp>
      <p:sp>
        <p:nvSpPr>
          <p:cNvPr id="25" name="Text 23"/>
          <p:cNvSpPr/>
          <p:nvPr/>
        </p:nvSpPr>
        <p:spPr>
          <a:xfrm>
            <a:off x="812780" y="4786490"/>
            <a:ext cx="11834072" cy="284453"/>
          </a:xfrm>
          <a:prstGeom prst="rect">
            <a:avLst/>
          </a:prstGeom>
          <a:noFill/>
          <a:ln/>
        </p:spPr>
        <p:txBody>
          <a:bodyPr wrap="none" lIns="0" tIns="0" rIns="0" bIns="0" rtlCol="0" anchor="t"/>
          <a:lstStyle/>
          <a:p>
            <a:pPr algn="l" indent="0" marL="0">
              <a:lnSpc>
                <a:spcPts val="2240"/>
              </a:lnSpc>
              <a:buNone/>
            </a:pPr>
            <a:r>
              <a:rPr lang="en-US" sz="1600" dirty="0">
                <a:solidFill>
                  <a:srgbClr val="14202B"/>
                </a:solidFill>
                <a:latin typeface="Arial" pitchFamily="34" charset="0"/>
                <a:ea typeface="Arial" pitchFamily="34" charset="-122"/>
                <a:cs typeface="Arial" pitchFamily="34" charset="-120"/>
              </a:rPr>
              <a:t>Stop whenever you like. One click that changes a number is a working app.</a:t>
            </a:r>
            <a:endParaRPr lang="en-US" sz="1600" dirty="0"/>
          </a:p>
        </p:txBody>
      </p:sp>
      <p:sp>
        <p:nvSpPr>
          <p:cNvPr id="26" name="Text 24"/>
          <p:cNvSpPr/>
          <p:nvPr/>
        </p:nvSpPr>
        <p:spPr>
          <a:xfrm>
            <a:off x="812780" y="6273643"/>
            <a:ext cx="5806469" cy="177796"/>
          </a:xfrm>
          <a:prstGeom prst="rect">
            <a:avLst/>
          </a:prstGeom>
          <a:noFill/>
          <a:ln/>
        </p:spPr>
        <p:txBody>
          <a:bodyPr wrap="none" lIns="0" tIns="0" rIns="0" bIns="0" rtlCol="0" anchor="t"/>
          <a:lstStyle/>
          <a:p>
            <a:pPr algn="l" indent="0" marL="0">
              <a:lnSpc>
                <a:spcPts val="1560"/>
              </a:lnSpc>
              <a:buNone/>
            </a:pPr>
            <a:r>
              <a:rPr lang="en-US" sz="1200" dirty="0">
                <a:solidFill>
                  <a:srgbClr val="4F6073"/>
                </a:solidFill>
                <a:latin typeface="Arial" pitchFamily="34" charset="0"/>
                <a:ea typeface="Arial" pitchFamily="34" charset="-122"/>
                <a:cs typeface="Arial" pitchFamily="34" charset="-120"/>
              </a:rPr>
              <a:t>Checkpoints: at +5 minutes, a Savings variable. At +10, the crystal responds.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FFB35C"/>
                </a:solidFill>
                <a:latin typeface="Arial" pitchFamily="34" charset="0"/>
                <a:ea typeface="Arial" pitchFamily="34" charset="-122"/>
                <a:cs typeface="Arial" pitchFamily="34" charset="-120"/>
              </a:rPr>
              <a:t>IF YOU ARE STUCK</a:t>
            </a:r>
            <a:endParaRPr lang="en-US" sz="1400" dirty="0"/>
          </a:p>
        </p:txBody>
      </p:sp>
      <p:sp>
        <p:nvSpPr>
          <p:cNvPr id="3" name="Text 1"/>
          <p:cNvSpPr/>
          <p:nvPr/>
        </p:nvSpPr>
        <p:spPr>
          <a:xfrm>
            <a:off x="812780" y="1295368"/>
            <a:ext cx="11834072" cy="533387"/>
          </a:xfrm>
          <a:prstGeom prst="rect">
            <a:avLst/>
          </a:prstGeom>
          <a:noFill/>
          <a:ln/>
        </p:spPr>
        <p:txBody>
          <a:bodyPr wrap="none" lIns="0" tIns="0" rIns="0" bIns="0" rtlCol="0" anchor="t"/>
          <a:lstStyle/>
          <a:p>
            <a:pPr algn="l" indent="0" marL="0">
              <a:lnSpc>
                <a:spcPts val="4200"/>
              </a:lnSpc>
              <a:buNone/>
            </a:pPr>
            <a:r>
              <a:rPr lang="en-US" sz="4000" b="1" dirty="0">
                <a:solidFill>
                  <a:srgbClr val="EEF2F6"/>
                </a:solidFill>
                <a:latin typeface="Arial" pitchFamily="34" charset="0"/>
                <a:ea typeface="Arial" pitchFamily="34" charset="-122"/>
                <a:cs typeface="Arial" pitchFamily="34" charset="-120"/>
              </a:rPr>
              <a:t>Try these, in order</a:t>
            </a:r>
            <a:endParaRPr lang="en-US" sz="4000" dirty="0"/>
          </a:p>
        </p:txBody>
      </p:sp>
      <p:sp>
        <p:nvSpPr>
          <p:cNvPr id="4" name="Shape 2"/>
          <p:cNvSpPr/>
          <p:nvPr/>
        </p:nvSpPr>
        <p:spPr>
          <a:xfrm>
            <a:off x="812780" y="2108147"/>
            <a:ext cx="10566136" cy="2064889"/>
          </a:xfrm>
          <a:prstGeom prst="roundRect">
            <a:avLst>
              <a:gd name="adj" fmla="val 6150"/>
            </a:avLst>
          </a:prstGeom>
          <a:solidFill>
            <a:srgbClr val="16222D"/>
          </a:solidFill>
          <a:ln w="6350">
            <a:solidFill>
              <a:srgbClr val="26384A"/>
            </a:solidFill>
            <a:prstDash val="solid"/>
          </a:ln>
        </p:spPr>
      </p:sp>
      <p:sp>
        <p:nvSpPr>
          <p:cNvPr id="5" name="Text 3"/>
          <p:cNvSpPr/>
          <p:nvPr/>
        </p:nvSpPr>
        <p:spPr>
          <a:xfrm>
            <a:off x="1479513" y="2368491"/>
            <a:ext cx="10681957" cy="386051"/>
          </a:xfrm>
          <a:prstGeom prst="rect">
            <a:avLst/>
          </a:prstGeom>
          <a:noFill/>
          <a:ln/>
        </p:spPr>
        <p:txBody>
          <a:bodyPr wrap="none" lIns="0" tIns="0" rIns="0" bIns="0" rtlCol="0" anchor="t"/>
          <a:lstStyle/>
          <a:p>
            <a:pPr algn="l" indent="0" marL="0">
              <a:lnSpc>
                <a:spcPts val="3040"/>
              </a:lnSpc>
              <a:buNone/>
            </a:pPr>
            <a:r>
              <a:rPr lang="en-US" sz="1900" dirty="0">
                <a:solidFill>
                  <a:srgbClr val="EEF2F6"/>
                </a:solidFill>
                <a:latin typeface="Arial" pitchFamily="34" charset="0"/>
                <a:ea typeface="Arial" pitchFamily="34" charset="-122"/>
                <a:cs typeface="Arial" pitchFamily="34" charset="-120"/>
              </a:rPr>
              <a:t>1. </a:t>
            </a:r>
            <a:pPr algn="l" indent="0" marL="0">
              <a:lnSpc>
                <a:spcPts val="3040"/>
              </a:lnSpc>
              <a:buNone/>
            </a:pPr>
            <a:r>
              <a:rPr lang="en-US" sz="1900" dirty="0">
                <a:solidFill>
                  <a:srgbClr val="EEF2F6"/>
                </a:solidFill>
                <a:latin typeface="Arial" pitchFamily="34" charset="0"/>
                <a:ea typeface="Arial" pitchFamily="34" charset="-122"/>
                <a:cs typeface="Arial" pitchFamily="34" charset="-120"/>
              </a:rPr>
              <a:t>Check the blocks click together with no gap</a:t>
            </a:r>
            <a:endParaRPr lang="en-US" sz="1900" dirty="0"/>
          </a:p>
        </p:txBody>
      </p:sp>
      <p:sp>
        <p:nvSpPr>
          <p:cNvPr id="6" name="Text 4"/>
          <p:cNvSpPr/>
          <p:nvPr/>
        </p:nvSpPr>
        <p:spPr>
          <a:xfrm>
            <a:off x="1479513" y="2754541"/>
            <a:ext cx="10681957" cy="386051"/>
          </a:xfrm>
          <a:prstGeom prst="rect">
            <a:avLst/>
          </a:prstGeom>
          <a:noFill/>
          <a:ln/>
        </p:spPr>
        <p:txBody>
          <a:bodyPr wrap="none" lIns="0" tIns="0" rIns="0" bIns="0" rtlCol="0" anchor="t"/>
          <a:lstStyle/>
          <a:p>
            <a:pPr algn="l" indent="0" marL="0">
              <a:lnSpc>
                <a:spcPts val="3040"/>
              </a:lnSpc>
              <a:buNone/>
            </a:pPr>
            <a:r>
              <a:rPr lang="en-US" sz="1900" dirty="0">
                <a:solidFill>
                  <a:srgbClr val="EEF2F6"/>
                </a:solidFill>
                <a:latin typeface="Arial" pitchFamily="34" charset="0"/>
                <a:ea typeface="Arial" pitchFamily="34" charset="-122"/>
                <a:cs typeface="Arial" pitchFamily="34" charset="-120"/>
              </a:rPr>
              <a:t>2. </a:t>
            </a:r>
            <a:pPr algn="l" indent="0" marL="0">
              <a:lnSpc>
                <a:spcPts val="3040"/>
              </a:lnSpc>
              <a:buNone/>
            </a:pPr>
            <a:r>
              <a:rPr lang="en-US" sz="1900" dirty="0">
                <a:solidFill>
                  <a:srgbClr val="EEF2F6"/>
                </a:solidFill>
                <a:latin typeface="Arial" pitchFamily="34" charset="0"/>
                <a:ea typeface="Arial" pitchFamily="34" charset="-122"/>
                <a:cs typeface="Arial" pitchFamily="34" charset="-120"/>
              </a:rPr>
              <a:t>Check the Savings box is ticked</a:t>
            </a:r>
            <a:endParaRPr lang="en-US" sz="1900" dirty="0"/>
          </a:p>
        </p:txBody>
      </p:sp>
      <p:sp>
        <p:nvSpPr>
          <p:cNvPr id="7" name="Text 5"/>
          <p:cNvSpPr/>
          <p:nvPr/>
        </p:nvSpPr>
        <p:spPr>
          <a:xfrm>
            <a:off x="1479513" y="3140592"/>
            <a:ext cx="10681957" cy="386051"/>
          </a:xfrm>
          <a:prstGeom prst="rect">
            <a:avLst/>
          </a:prstGeom>
          <a:noFill/>
          <a:ln/>
        </p:spPr>
        <p:txBody>
          <a:bodyPr wrap="none" lIns="0" tIns="0" rIns="0" bIns="0" rtlCol="0" anchor="t"/>
          <a:lstStyle/>
          <a:p>
            <a:pPr algn="l" indent="0" marL="0">
              <a:lnSpc>
                <a:spcPts val="3040"/>
              </a:lnSpc>
              <a:buNone/>
            </a:pPr>
            <a:r>
              <a:rPr lang="en-US" sz="1900" dirty="0">
                <a:solidFill>
                  <a:srgbClr val="EEF2F6"/>
                </a:solidFill>
                <a:latin typeface="Arial" pitchFamily="34" charset="0"/>
                <a:ea typeface="Arial" pitchFamily="34" charset="-122"/>
                <a:cs typeface="Arial" pitchFamily="34" charset="-120"/>
              </a:rPr>
              <a:t>3. </a:t>
            </a:r>
            <a:pPr algn="l" indent="0" marL="0">
              <a:lnSpc>
                <a:spcPts val="3040"/>
              </a:lnSpc>
              <a:buNone/>
            </a:pPr>
            <a:r>
              <a:rPr lang="en-US" sz="1900" dirty="0">
                <a:solidFill>
                  <a:srgbClr val="EEF2F6"/>
                </a:solidFill>
                <a:latin typeface="Arial" pitchFamily="34" charset="0"/>
                <a:ea typeface="Arial" pitchFamily="34" charset="-122"/>
                <a:cs typeface="Arial" pitchFamily="34" charset="-120"/>
              </a:rPr>
              <a:t>Build the smallest version: click, add 10</a:t>
            </a:r>
            <a:endParaRPr lang="en-US" sz="1900" dirty="0"/>
          </a:p>
        </p:txBody>
      </p:sp>
      <p:sp>
        <p:nvSpPr>
          <p:cNvPr id="8" name="Text 6"/>
          <p:cNvSpPr/>
          <p:nvPr/>
        </p:nvSpPr>
        <p:spPr>
          <a:xfrm>
            <a:off x="1479513" y="3526642"/>
            <a:ext cx="10681957" cy="386051"/>
          </a:xfrm>
          <a:prstGeom prst="rect">
            <a:avLst/>
          </a:prstGeom>
          <a:noFill/>
          <a:ln/>
        </p:spPr>
        <p:txBody>
          <a:bodyPr wrap="none" lIns="0" tIns="0" rIns="0" bIns="0" rtlCol="0" anchor="t"/>
          <a:lstStyle/>
          <a:p>
            <a:pPr algn="l" indent="0" marL="0">
              <a:lnSpc>
                <a:spcPts val="3040"/>
              </a:lnSpc>
              <a:buNone/>
            </a:pPr>
            <a:r>
              <a:rPr lang="en-US" sz="1900" dirty="0">
                <a:solidFill>
                  <a:srgbClr val="EEF2F6"/>
                </a:solidFill>
                <a:latin typeface="Arial" pitchFamily="34" charset="0"/>
                <a:ea typeface="Arial" pitchFamily="34" charset="-122"/>
                <a:cs typeface="Arial" pitchFamily="34" charset="-120"/>
              </a:rPr>
              <a:t>4. </a:t>
            </a:r>
            <a:pPr algn="l" indent="0" marL="0">
              <a:lnSpc>
                <a:spcPts val="3040"/>
              </a:lnSpc>
              <a:buNone/>
            </a:pPr>
            <a:r>
              <a:rPr lang="en-US" sz="1900" dirty="0">
                <a:solidFill>
                  <a:srgbClr val="EEF2F6"/>
                </a:solidFill>
                <a:latin typeface="Arial" pitchFamily="34" charset="0"/>
                <a:ea typeface="Arial" pitchFamily="34" charset="-122"/>
                <a:cs typeface="Arial" pitchFamily="34" charset="-120"/>
              </a:rPr>
              <a:t>Wave to a helper</a:t>
            </a:r>
            <a:endParaRPr lang="en-US" sz="1900" dirty="0"/>
          </a:p>
        </p:txBody>
      </p:sp>
      <p:sp>
        <p:nvSpPr>
          <p:cNvPr id="9" name="Text 7"/>
          <p:cNvSpPr/>
          <p:nvPr/>
        </p:nvSpPr>
        <p:spPr>
          <a:xfrm>
            <a:off x="812780" y="6273643"/>
            <a:ext cx="3728595"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Stuck is normal. It is where the learning happens.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222D"/>
        </a:solidFill>
      </p:bgPr>
    </p:bg>
    <p:spTree>
      <p:nvGrpSpPr>
        <p:cNvPr id="1" name=""/>
        <p:cNvGrpSpPr/>
        <p:nvPr/>
      </p:nvGrpSpPr>
      <p:grpSpPr>
        <a:xfrm>
          <a:off x="0" y="0"/>
          <a:ext cx="0" cy="0"/>
          <a:chOff x="0" y="0"/>
          <a:chExt cx="0" cy="0"/>
        </a:xfrm>
      </p:grpSpPr>
      <p:sp>
        <p:nvSpPr>
          <p:cNvPr id="2" name="Text 0"/>
          <p:cNvSpPr/>
          <p:nvPr/>
        </p:nvSpPr>
        <p:spPr>
          <a:xfrm>
            <a:off x="812780" y="1862389"/>
            <a:ext cx="10935951" cy="1879553"/>
          </a:xfrm>
          <a:prstGeom prst="rect">
            <a:avLst/>
          </a:prstGeom>
          <a:noFill/>
          <a:ln/>
        </p:spPr>
        <p:txBody>
          <a:bodyPr wrap="square" lIns="0" tIns="0" rIns="0" bIns="0" rtlCol="0" anchor="t"/>
          <a:lstStyle/>
          <a:p>
            <a:pPr algn="l" indent="0" marL="0">
              <a:lnSpc>
                <a:spcPts val="7400"/>
              </a:lnSpc>
              <a:buNone/>
            </a:pPr>
            <a:r>
              <a:rPr lang="en-US" sz="7400" b="1" dirty="0">
                <a:solidFill>
                  <a:srgbClr val="EEF2F6"/>
                </a:solidFill>
                <a:latin typeface="Arial" pitchFamily="34" charset="0"/>
                <a:ea typeface="Arial" pitchFamily="34" charset="-122"/>
                <a:cs typeface="Arial" pitchFamily="34" charset="-120"/>
              </a:rPr>
              <a:t>Show us one thing you built.</a:t>
            </a:r>
            <a:endParaRPr lang="en-US" sz="7400" dirty="0"/>
          </a:p>
        </p:txBody>
      </p:sp>
      <p:sp>
        <p:nvSpPr>
          <p:cNvPr id="3" name="Text 1"/>
          <p:cNvSpPr/>
          <p:nvPr/>
        </p:nvSpPr>
        <p:spPr>
          <a:xfrm>
            <a:off x="812780" y="4021335"/>
            <a:ext cx="9245369" cy="377121"/>
          </a:xfrm>
          <a:prstGeom prst="rect">
            <a:avLst/>
          </a:prstGeom>
          <a:noFill/>
          <a:ln/>
        </p:spPr>
        <p:txBody>
          <a:bodyPr wrap="none" lIns="0" tIns="0" rIns="0" bIns="0" rtlCol="0" anchor="t"/>
          <a:lstStyle/>
          <a:p>
            <a:pPr algn="l" indent="0" marL="0">
              <a:lnSpc>
                <a:spcPts val="2970"/>
              </a:lnSpc>
              <a:buNone/>
            </a:pPr>
            <a:r>
              <a:rPr lang="en-US" sz="2200" dirty="0">
                <a:solidFill>
                  <a:srgbClr val="B7C4D1"/>
                </a:solidFill>
                <a:latin typeface="Arial" pitchFamily="34" charset="0"/>
                <a:ea typeface="Arial" pitchFamily="34" charset="-122"/>
                <a:cs typeface="Arial" pitchFamily="34" charset="-120"/>
              </a:rPr>
              <a:t>It can be tiny. Tiny counts.</a:t>
            </a:r>
            <a:endParaRPr lang="en-US" sz="2200" dirty="0"/>
          </a:p>
        </p:txBody>
      </p:sp>
      <p:sp>
        <p:nvSpPr>
          <p:cNvPr id="4" name="Text 2"/>
          <p:cNvSpPr/>
          <p:nvPr/>
        </p:nvSpPr>
        <p:spPr>
          <a:xfrm>
            <a:off x="812780" y="6273643"/>
            <a:ext cx="3653143" cy="177796"/>
          </a:xfrm>
          <a:prstGeom prst="rect">
            <a:avLst/>
          </a:prstGeom>
          <a:noFill/>
          <a:ln/>
        </p:spPr>
        <p:txBody>
          <a:bodyPr wrap="none" lIns="0" tIns="0" rIns="0" bIns="0" rtlCol="0" anchor="t"/>
          <a:lstStyle/>
          <a:p>
            <a:pPr algn="l" indent="0" marL="0">
              <a:lnSpc>
                <a:spcPts val="1560"/>
              </a:lnSpc>
              <a:buNone/>
            </a:pPr>
            <a:r>
              <a:rPr lang="en-US" sz="1200" dirty="0">
                <a:solidFill>
                  <a:srgbClr val="8FA3B5"/>
                </a:solidFill>
                <a:latin typeface="Arial" pitchFamily="34" charset="0"/>
                <a:ea typeface="Arial" pitchFamily="34" charset="-122"/>
                <a:cs typeface="Arial" pitchFamily="34" charset="-120"/>
              </a:rPr>
              <a:t>Take two or three volunteers. Applaud each one.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3CC7BD"/>
                </a:solidFill>
                <a:latin typeface="Arial" pitchFamily="34" charset="0"/>
                <a:ea typeface="Arial" pitchFamily="34" charset="-122"/>
                <a:cs typeface="Arial" pitchFamily="34" charset="-120"/>
              </a:rPr>
              <a:t>WHAT YOU ACTUALLY DID</a:t>
            </a:r>
            <a:endParaRPr lang="en-US" sz="1400" dirty="0"/>
          </a:p>
        </p:txBody>
      </p:sp>
      <p:sp>
        <p:nvSpPr>
          <p:cNvPr id="3" name="Text 1"/>
          <p:cNvSpPr/>
          <p:nvPr/>
        </p:nvSpPr>
        <p:spPr>
          <a:xfrm>
            <a:off x="812780" y="1269968"/>
            <a:ext cx="11834072" cy="533387"/>
          </a:xfrm>
          <a:prstGeom prst="rect">
            <a:avLst/>
          </a:prstGeom>
          <a:noFill/>
          <a:ln/>
        </p:spPr>
        <p:txBody>
          <a:bodyPr wrap="none" lIns="0" tIns="0" rIns="0" bIns="0" rtlCol="0" anchor="t"/>
          <a:lstStyle/>
          <a:p>
            <a:pPr algn="l" indent="0" marL="0">
              <a:lnSpc>
                <a:spcPts val="4200"/>
              </a:lnSpc>
              <a:buNone/>
            </a:pPr>
            <a:r>
              <a:rPr lang="en-US" sz="4000" b="1" dirty="0">
                <a:solidFill>
                  <a:srgbClr val="EEF2F6"/>
                </a:solidFill>
                <a:latin typeface="Arial" pitchFamily="34" charset="0"/>
                <a:ea typeface="Arial" pitchFamily="34" charset="-122"/>
                <a:cs typeface="Arial" pitchFamily="34" charset="-120"/>
              </a:rPr>
              <a:t>In this session you used</a:t>
            </a:r>
            <a:endParaRPr lang="en-US" sz="4000" dirty="0"/>
          </a:p>
        </p:txBody>
      </p:sp>
      <p:sp>
        <p:nvSpPr>
          <p:cNvPr id="4" name="Shape 2"/>
          <p:cNvSpPr/>
          <p:nvPr/>
        </p:nvSpPr>
        <p:spPr>
          <a:xfrm>
            <a:off x="812780" y="2057349"/>
            <a:ext cx="3420382" cy="944837"/>
          </a:xfrm>
          <a:prstGeom prst="roundRect">
            <a:avLst>
              <a:gd name="adj" fmla="val 13441"/>
            </a:avLst>
          </a:prstGeom>
          <a:solidFill>
            <a:srgbClr val="16222D"/>
          </a:solidFill>
          <a:ln w="6350">
            <a:solidFill>
              <a:srgbClr val="26384A"/>
            </a:solidFill>
            <a:prstDash val="solid"/>
          </a:ln>
        </p:spPr>
      </p:sp>
      <p:sp>
        <p:nvSpPr>
          <p:cNvPr id="5" name="Text 3"/>
          <p:cNvSpPr/>
          <p:nvPr/>
        </p:nvSpPr>
        <p:spPr>
          <a:xfrm>
            <a:off x="1022324" y="2241494"/>
            <a:ext cx="3361447" cy="285743"/>
          </a:xfrm>
          <a:prstGeom prst="rect">
            <a:avLst/>
          </a:prstGeom>
          <a:noFill/>
          <a:ln/>
        </p:spPr>
        <p:txBody>
          <a:bodyPr wrap="none" lIns="0" tIns="0" rIns="0" bIns="0" rtlCol="0" anchor="t"/>
          <a:lstStyle/>
          <a:p>
            <a:pPr algn="l" indent="0" marL="0">
              <a:lnSpc>
                <a:spcPts val="2600"/>
              </a:lnSpc>
              <a:buNone/>
            </a:pPr>
            <a:r>
              <a:rPr lang="en-US" sz="2000" b="1" dirty="0">
                <a:solidFill>
                  <a:srgbClr val="3CC7BD"/>
                </a:solidFill>
                <a:latin typeface="Arial" pitchFamily="34" charset="0"/>
                <a:ea typeface="Arial" pitchFamily="34" charset="-122"/>
                <a:cs typeface="Arial" pitchFamily="34" charset="-120"/>
              </a:rPr>
              <a:t>Variables</a:t>
            </a:r>
            <a:endParaRPr lang="en-US" sz="2000" dirty="0"/>
          </a:p>
        </p:txBody>
      </p:sp>
      <p:sp>
        <p:nvSpPr>
          <p:cNvPr id="6" name="Text 4"/>
          <p:cNvSpPr/>
          <p:nvPr/>
        </p:nvSpPr>
        <p:spPr>
          <a:xfrm>
            <a:off x="1022324" y="2578036"/>
            <a:ext cx="3361447"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Named boxes holding values</a:t>
            </a:r>
            <a:endParaRPr lang="en-US" sz="1400" dirty="0"/>
          </a:p>
        </p:txBody>
      </p:sp>
      <p:sp>
        <p:nvSpPr>
          <p:cNvPr id="7" name="Shape 5"/>
          <p:cNvSpPr/>
          <p:nvPr/>
        </p:nvSpPr>
        <p:spPr>
          <a:xfrm>
            <a:off x="4385558" y="2057349"/>
            <a:ext cx="3420481" cy="944837"/>
          </a:xfrm>
          <a:prstGeom prst="roundRect">
            <a:avLst>
              <a:gd name="adj" fmla="val 13441"/>
            </a:avLst>
          </a:prstGeom>
          <a:solidFill>
            <a:srgbClr val="16222D"/>
          </a:solidFill>
          <a:ln w="6350">
            <a:solidFill>
              <a:srgbClr val="26384A"/>
            </a:solidFill>
            <a:prstDash val="solid"/>
          </a:ln>
        </p:spPr>
      </p:sp>
      <p:sp>
        <p:nvSpPr>
          <p:cNvPr id="8" name="Text 6"/>
          <p:cNvSpPr/>
          <p:nvPr/>
        </p:nvSpPr>
        <p:spPr>
          <a:xfrm>
            <a:off x="4595102" y="2241494"/>
            <a:ext cx="3361558" cy="285743"/>
          </a:xfrm>
          <a:prstGeom prst="rect">
            <a:avLst/>
          </a:prstGeom>
          <a:noFill/>
          <a:ln/>
        </p:spPr>
        <p:txBody>
          <a:bodyPr wrap="none" lIns="0" tIns="0" rIns="0" bIns="0" rtlCol="0" anchor="t"/>
          <a:lstStyle/>
          <a:p>
            <a:pPr algn="l" indent="0" marL="0">
              <a:lnSpc>
                <a:spcPts val="2600"/>
              </a:lnSpc>
              <a:buNone/>
            </a:pPr>
            <a:r>
              <a:rPr lang="en-US" sz="2000" b="1" dirty="0">
                <a:solidFill>
                  <a:srgbClr val="3CC7BD"/>
                </a:solidFill>
                <a:latin typeface="Arial" pitchFamily="34" charset="0"/>
                <a:ea typeface="Arial" pitchFamily="34" charset="-122"/>
                <a:cs typeface="Arial" pitchFamily="34" charset="-120"/>
              </a:rPr>
              <a:t>Loops</a:t>
            </a:r>
            <a:endParaRPr lang="en-US" sz="2000" dirty="0"/>
          </a:p>
        </p:txBody>
      </p:sp>
      <p:sp>
        <p:nvSpPr>
          <p:cNvPr id="9" name="Text 7"/>
          <p:cNvSpPr/>
          <p:nvPr/>
        </p:nvSpPr>
        <p:spPr>
          <a:xfrm>
            <a:off x="4595102" y="2578036"/>
            <a:ext cx="3361558"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Do it again, counted or until</a:t>
            </a:r>
            <a:endParaRPr lang="en-US" sz="1400" dirty="0"/>
          </a:p>
        </p:txBody>
      </p:sp>
      <p:sp>
        <p:nvSpPr>
          <p:cNvPr id="10" name="Shape 8"/>
          <p:cNvSpPr/>
          <p:nvPr/>
        </p:nvSpPr>
        <p:spPr>
          <a:xfrm>
            <a:off x="7958435" y="2057349"/>
            <a:ext cx="3420481" cy="944837"/>
          </a:xfrm>
          <a:prstGeom prst="roundRect">
            <a:avLst>
              <a:gd name="adj" fmla="val 13441"/>
            </a:avLst>
          </a:prstGeom>
          <a:solidFill>
            <a:srgbClr val="16222D"/>
          </a:solidFill>
          <a:ln w="6350">
            <a:solidFill>
              <a:srgbClr val="26384A"/>
            </a:solidFill>
            <a:prstDash val="solid"/>
          </a:ln>
        </p:spPr>
      </p:sp>
      <p:sp>
        <p:nvSpPr>
          <p:cNvPr id="11" name="Text 9"/>
          <p:cNvSpPr/>
          <p:nvPr/>
        </p:nvSpPr>
        <p:spPr>
          <a:xfrm>
            <a:off x="8167979" y="2241494"/>
            <a:ext cx="3361558" cy="285743"/>
          </a:xfrm>
          <a:prstGeom prst="rect">
            <a:avLst/>
          </a:prstGeom>
          <a:noFill/>
          <a:ln/>
        </p:spPr>
        <p:txBody>
          <a:bodyPr wrap="none" lIns="0" tIns="0" rIns="0" bIns="0" rtlCol="0" anchor="t"/>
          <a:lstStyle/>
          <a:p>
            <a:pPr algn="l" indent="0" marL="0">
              <a:lnSpc>
                <a:spcPts val="2600"/>
              </a:lnSpc>
              <a:buNone/>
            </a:pPr>
            <a:r>
              <a:rPr lang="en-US" sz="2000" b="1" dirty="0">
                <a:solidFill>
                  <a:srgbClr val="3CC7BD"/>
                </a:solidFill>
                <a:latin typeface="Arial" pitchFamily="34" charset="0"/>
                <a:ea typeface="Arial" pitchFamily="34" charset="-122"/>
                <a:cs typeface="Arial" pitchFamily="34" charset="-120"/>
              </a:rPr>
              <a:t>Conditions</a:t>
            </a:r>
            <a:endParaRPr lang="en-US" sz="2000" dirty="0"/>
          </a:p>
        </p:txBody>
      </p:sp>
      <p:sp>
        <p:nvSpPr>
          <p:cNvPr id="12" name="Text 10"/>
          <p:cNvSpPr/>
          <p:nvPr/>
        </p:nvSpPr>
        <p:spPr>
          <a:xfrm>
            <a:off x="8167979" y="2578036"/>
            <a:ext cx="3361558"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If this is true, do that</a:t>
            </a:r>
            <a:endParaRPr lang="en-US" sz="1400" dirty="0"/>
          </a:p>
        </p:txBody>
      </p:sp>
      <p:sp>
        <p:nvSpPr>
          <p:cNvPr id="13" name="Shape 11"/>
          <p:cNvSpPr/>
          <p:nvPr/>
        </p:nvSpPr>
        <p:spPr>
          <a:xfrm>
            <a:off x="812780" y="3154581"/>
            <a:ext cx="3420382" cy="944837"/>
          </a:xfrm>
          <a:prstGeom prst="roundRect">
            <a:avLst>
              <a:gd name="adj" fmla="val 13441"/>
            </a:avLst>
          </a:prstGeom>
          <a:solidFill>
            <a:srgbClr val="16222D"/>
          </a:solidFill>
          <a:ln w="6350">
            <a:solidFill>
              <a:srgbClr val="26384A"/>
            </a:solidFill>
            <a:prstDash val="solid"/>
          </a:ln>
        </p:spPr>
      </p:sp>
      <p:sp>
        <p:nvSpPr>
          <p:cNvPr id="14" name="Text 12"/>
          <p:cNvSpPr/>
          <p:nvPr/>
        </p:nvSpPr>
        <p:spPr>
          <a:xfrm>
            <a:off x="1022324" y="3338727"/>
            <a:ext cx="3361447" cy="285743"/>
          </a:xfrm>
          <a:prstGeom prst="rect">
            <a:avLst/>
          </a:prstGeom>
          <a:noFill/>
          <a:ln/>
        </p:spPr>
        <p:txBody>
          <a:bodyPr wrap="none" lIns="0" tIns="0" rIns="0" bIns="0" rtlCol="0" anchor="t"/>
          <a:lstStyle/>
          <a:p>
            <a:pPr algn="l" indent="0" marL="0">
              <a:lnSpc>
                <a:spcPts val="2600"/>
              </a:lnSpc>
              <a:buNone/>
            </a:pPr>
            <a:r>
              <a:rPr lang="en-US" sz="2000" b="1" dirty="0">
                <a:solidFill>
                  <a:srgbClr val="3CC7BD"/>
                </a:solidFill>
                <a:latin typeface="Arial" pitchFamily="34" charset="0"/>
                <a:ea typeface="Arial" pitchFamily="34" charset="-122"/>
                <a:cs typeface="Arial" pitchFamily="34" charset="-120"/>
              </a:rPr>
              <a:t>Events</a:t>
            </a:r>
            <a:endParaRPr lang="en-US" sz="2000" dirty="0"/>
          </a:p>
        </p:txBody>
      </p:sp>
      <p:sp>
        <p:nvSpPr>
          <p:cNvPr id="15" name="Text 13"/>
          <p:cNvSpPr/>
          <p:nvPr/>
        </p:nvSpPr>
        <p:spPr>
          <a:xfrm>
            <a:off x="1022324" y="3675268"/>
            <a:ext cx="3361447"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A click starts a script</a:t>
            </a:r>
            <a:endParaRPr lang="en-US" sz="1400" dirty="0"/>
          </a:p>
        </p:txBody>
      </p:sp>
      <p:sp>
        <p:nvSpPr>
          <p:cNvPr id="16" name="Shape 14"/>
          <p:cNvSpPr/>
          <p:nvPr/>
        </p:nvSpPr>
        <p:spPr>
          <a:xfrm>
            <a:off x="4385558" y="3154581"/>
            <a:ext cx="3420481" cy="944837"/>
          </a:xfrm>
          <a:prstGeom prst="roundRect">
            <a:avLst>
              <a:gd name="adj" fmla="val 13441"/>
            </a:avLst>
          </a:prstGeom>
          <a:solidFill>
            <a:srgbClr val="16222D"/>
          </a:solidFill>
          <a:ln w="6350">
            <a:solidFill>
              <a:srgbClr val="26384A"/>
            </a:solidFill>
            <a:prstDash val="solid"/>
          </a:ln>
        </p:spPr>
      </p:sp>
      <p:sp>
        <p:nvSpPr>
          <p:cNvPr id="17" name="Text 15"/>
          <p:cNvSpPr/>
          <p:nvPr/>
        </p:nvSpPr>
        <p:spPr>
          <a:xfrm>
            <a:off x="4595102" y="3338727"/>
            <a:ext cx="3361558" cy="285743"/>
          </a:xfrm>
          <a:prstGeom prst="rect">
            <a:avLst/>
          </a:prstGeom>
          <a:noFill/>
          <a:ln/>
        </p:spPr>
        <p:txBody>
          <a:bodyPr wrap="none" lIns="0" tIns="0" rIns="0" bIns="0" rtlCol="0" anchor="t"/>
          <a:lstStyle/>
          <a:p>
            <a:pPr algn="l" indent="0" marL="0">
              <a:lnSpc>
                <a:spcPts val="2600"/>
              </a:lnSpc>
              <a:buNone/>
            </a:pPr>
            <a:r>
              <a:rPr lang="en-US" sz="2000" b="1" dirty="0">
                <a:solidFill>
                  <a:srgbClr val="3CC7BD"/>
                </a:solidFill>
                <a:latin typeface="Arial" pitchFamily="34" charset="0"/>
                <a:ea typeface="Arial" pitchFamily="34" charset="-122"/>
                <a:cs typeface="Arial" pitchFamily="34" charset="-120"/>
              </a:rPr>
              <a:t>Search</a:t>
            </a:r>
            <a:endParaRPr lang="en-US" sz="2000" dirty="0"/>
          </a:p>
        </p:txBody>
      </p:sp>
      <p:sp>
        <p:nvSpPr>
          <p:cNvPr id="18" name="Text 16"/>
          <p:cNvSpPr/>
          <p:nvPr/>
        </p:nvSpPr>
        <p:spPr>
          <a:xfrm>
            <a:off x="4595102" y="3675268"/>
            <a:ext cx="3361558"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Finding one item in many</a:t>
            </a:r>
            <a:endParaRPr lang="en-US" sz="1400" dirty="0"/>
          </a:p>
        </p:txBody>
      </p:sp>
      <p:sp>
        <p:nvSpPr>
          <p:cNvPr id="19" name="Shape 17"/>
          <p:cNvSpPr/>
          <p:nvPr/>
        </p:nvSpPr>
        <p:spPr>
          <a:xfrm>
            <a:off x="7958435" y="3154581"/>
            <a:ext cx="3420481" cy="944837"/>
          </a:xfrm>
          <a:prstGeom prst="roundRect">
            <a:avLst>
              <a:gd name="adj" fmla="val 13441"/>
            </a:avLst>
          </a:prstGeom>
          <a:solidFill>
            <a:srgbClr val="16222D"/>
          </a:solidFill>
          <a:ln w="6350">
            <a:solidFill>
              <a:srgbClr val="26384A"/>
            </a:solidFill>
            <a:prstDash val="solid"/>
          </a:ln>
        </p:spPr>
      </p:sp>
      <p:sp>
        <p:nvSpPr>
          <p:cNvPr id="20" name="Text 18"/>
          <p:cNvSpPr/>
          <p:nvPr/>
        </p:nvSpPr>
        <p:spPr>
          <a:xfrm>
            <a:off x="8167979" y="3338727"/>
            <a:ext cx="3361558" cy="285743"/>
          </a:xfrm>
          <a:prstGeom prst="rect">
            <a:avLst/>
          </a:prstGeom>
          <a:noFill/>
          <a:ln/>
        </p:spPr>
        <p:txBody>
          <a:bodyPr wrap="none" lIns="0" tIns="0" rIns="0" bIns="0" rtlCol="0" anchor="t"/>
          <a:lstStyle/>
          <a:p>
            <a:pPr algn="l" indent="0" marL="0">
              <a:lnSpc>
                <a:spcPts val="2600"/>
              </a:lnSpc>
              <a:buNone/>
            </a:pPr>
            <a:r>
              <a:rPr lang="en-US" sz="2000" b="1" dirty="0">
                <a:solidFill>
                  <a:srgbClr val="FFB35C"/>
                </a:solidFill>
                <a:latin typeface="Arial" pitchFamily="34" charset="0"/>
                <a:ea typeface="Arial" pitchFamily="34" charset="-122"/>
                <a:cs typeface="Arial" pitchFamily="34" charset="-120"/>
              </a:rPr>
              <a:t>A new language</a:t>
            </a:r>
            <a:endParaRPr lang="en-US" sz="2000" dirty="0"/>
          </a:p>
        </p:txBody>
      </p:sp>
      <p:sp>
        <p:nvSpPr>
          <p:cNvPr id="21" name="Text 19"/>
          <p:cNvSpPr/>
          <p:nvPr/>
        </p:nvSpPr>
        <p:spPr>
          <a:xfrm>
            <a:off x="8167979" y="3675268"/>
            <a:ext cx="3361558"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One we built ourselves</a:t>
            </a:r>
            <a:endParaRPr lang="en-US" sz="1400" dirty="0"/>
          </a:p>
        </p:txBody>
      </p:sp>
      <p:sp>
        <p:nvSpPr>
          <p:cNvPr id="22" name="Text 20"/>
          <p:cNvSpPr/>
          <p:nvPr/>
        </p:nvSpPr>
        <p:spPr>
          <a:xfrm>
            <a:off x="812780" y="4353411"/>
            <a:ext cx="11834072" cy="284453"/>
          </a:xfrm>
          <a:prstGeom prst="rect">
            <a:avLst/>
          </a:prstGeom>
          <a:noFill/>
          <a:ln/>
        </p:spPr>
        <p:txBody>
          <a:bodyPr wrap="none" lIns="0" tIns="0" rIns="0" bIns="0" rtlCol="0" anchor="t"/>
          <a:lstStyle/>
          <a:p>
            <a:pPr algn="l" indent="0" marL="0">
              <a:lnSpc>
                <a:spcPts val="2240"/>
              </a:lnSpc>
              <a:buNone/>
            </a:pPr>
            <a:r>
              <a:rPr lang="en-US" sz="1600" dirty="0">
                <a:solidFill>
                  <a:srgbClr val="B7C4D1"/>
                </a:solidFill>
                <a:latin typeface="Arial" pitchFamily="34" charset="0"/>
                <a:ea typeface="Arial" pitchFamily="34" charset="-122"/>
                <a:cs typeface="Arial" pitchFamily="34" charset="-120"/>
              </a:rPr>
              <a:t>The daily tools of developers, testers and analysts. None of it needed a degree today.</a:t>
            </a:r>
            <a:endParaRPr lang="en-US" sz="1600" dirty="0"/>
          </a:p>
        </p:txBody>
      </p:sp>
      <p:sp>
        <p:nvSpPr>
          <p:cNvPr id="23" name="Text 21"/>
          <p:cNvSpPr/>
          <p:nvPr/>
        </p:nvSpPr>
        <p:spPr>
          <a:xfrm>
            <a:off x="812780" y="6273643"/>
            <a:ext cx="4677023"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This does not promise a job. It shows what the work feels like.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51C"/>
        </a:solidFill>
      </p:bgPr>
    </p:bg>
    <p:spTree>
      <p:nvGrpSpPr>
        <p:cNvPr id="1" name=""/>
        <p:cNvGrpSpPr/>
        <p:nvPr/>
      </p:nvGrpSpPr>
      <p:grpSpPr>
        <a:xfrm>
          <a:off x="0" y="0"/>
          <a:ext cx="0" cy="0"/>
          <a:chOff x="0" y="0"/>
          <a:chExt cx="0" cy="0"/>
        </a:xfrm>
      </p:grpSpPr>
      <p:sp>
        <p:nvSpPr>
          <p:cNvPr id="2" name="Text 0"/>
          <p:cNvSpPr/>
          <p:nvPr/>
        </p:nvSpPr>
        <p:spPr>
          <a:xfrm>
            <a:off x="812780" y="812780"/>
            <a:ext cx="11834072" cy="203195"/>
          </a:xfrm>
          <a:prstGeom prst="rect">
            <a:avLst/>
          </a:prstGeom>
          <a:noFill/>
          <a:ln/>
        </p:spPr>
        <p:txBody>
          <a:bodyPr wrap="none" lIns="0" tIns="0" rIns="0" bIns="0" rtlCol="0" anchor="t"/>
          <a:lstStyle/>
          <a:p>
            <a:pPr algn="l" indent="0" marL="0">
              <a:lnSpc>
                <a:spcPts val="1820"/>
              </a:lnSpc>
              <a:buNone/>
            </a:pPr>
            <a:r>
              <a:rPr lang="en-US" sz="1400" b="1" spc="200" kern="0" dirty="0">
                <a:solidFill>
                  <a:srgbClr val="3CC7BD"/>
                </a:solidFill>
                <a:latin typeface="Arial" pitchFamily="34" charset="0"/>
                <a:ea typeface="Arial" pitchFamily="34" charset="-122"/>
                <a:cs typeface="Arial" pitchFamily="34" charset="-120"/>
              </a:rPr>
              <a:t>IF YOU LIKED IT</a:t>
            </a:r>
            <a:endParaRPr lang="en-US" sz="1400" dirty="0"/>
          </a:p>
        </p:txBody>
      </p:sp>
      <p:sp>
        <p:nvSpPr>
          <p:cNvPr id="3" name="Text 1"/>
          <p:cNvSpPr/>
          <p:nvPr/>
        </p:nvSpPr>
        <p:spPr>
          <a:xfrm>
            <a:off x="812780" y="1295368"/>
            <a:ext cx="11834072" cy="533387"/>
          </a:xfrm>
          <a:prstGeom prst="rect">
            <a:avLst/>
          </a:prstGeom>
          <a:noFill/>
          <a:ln/>
        </p:spPr>
        <p:txBody>
          <a:bodyPr wrap="none" lIns="0" tIns="0" rIns="0" bIns="0" rtlCol="0" anchor="t"/>
          <a:lstStyle/>
          <a:p>
            <a:pPr algn="l" indent="0" marL="0">
              <a:lnSpc>
                <a:spcPts val="4200"/>
              </a:lnSpc>
              <a:buNone/>
            </a:pPr>
            <a:r>
              <a:rPr lang="en-US" sz="4000" b="1" dirty="0">
                <a:solidFill>
                  <a:srgbClr val="EEF2F6"/>
                </a:solidFill>
                <a:latin typeface="Arial" pitchFamily="34" charset="0"/>
                <a:ea typeface="Arial" pitchFamily="34" charset="-122"/>
                <a:cs typeface="Arial" pitchFamily="34" charset="-120"/>
              </a:rPr>
              <a:t>Next steps</a:t>
            </a:r>
            <a:endParaRPr lang="en-US" sz="4000" dirty="0"/>
          </a:p>
        </p:txBody>
      </p:sp>
      <p:sp>
        <p:nvSpPr>
          <p:cNvPr id="4" name="Shape 2"/>
          <p:cNvSpPr/>
          <p:nvPr/>
        </p:nvSpPr>
        <p:spPr>
          <a:xfrm>
            <a:off x="812780" y="2108147"/>
            <a:ext cx="5206870" cy="1008335"/>
          </a:xfrm>
          <a:prstGeom prst="roundRect">
            <a:avLst>
              <a:gd name="adj" fmla="val 12595"/>
            </a:avLst>
          </a:prstGeom>
          <a:solidFill>
            <a:srgbClr val="16222D"/>
          </a:solidFill>
          <a:ln w="6350">
            <a:solidFill>
              <a:srgbClr val="26384A"/>
            </a:solidFill>
            <a:prstDash val="solid"/>
          </a:ln>
        </p:spPr>
      </p:sp>
      <p:sp>
        <p:nvSpPr>
          <p:cNvPr id="5" name="Text 3"/>
          <p:cNvSpPr/>
          <p:nvPr/>
        </p:nvSpPr>
        <p:spPr>
          <a:xfrm>
            <a:off x="1073123" y="2317692"/>
            <a:ext cx="5248525" cy="285743"/>
          </a:xfrm>
          <a:prstGeom prst="rect">
            <a:avLst/>
          </a:prstGeom>
          <a:noFill/>
          <a:ln/>
        </p:spPr>
        <p:txBody>
          <a:bodyPr wrap="none" lIns="0" tIns="0" rIns="0" bIns="0" rtlCol="0" anchor="t"/>
          <a:lstStyle/>
          <a:p>
            <a:pPr algn="l" indent="0" marL="0">
              <a:lnSpc>
                <a:spcPts val="2600"/>
              </a:lnSpc>
              <a:buNone/>
            </a:pPr>
            <a:r>
              <a:rPr lang="en-US" sz="2000" b="1" dirty="0">
                <a:solidFill>
                  <a:srgbClr val="3CC7BD"/>
                </a:solidFill>
                <a:latin typeface="Arial" pitchFamily="34" charset="0"/>
                <a:ea typeface="Arial" pitchFamily="34" charset="-122"/>
                <a:cs typeface="Arial" pitchFamily="34" charset="-120"/>
              </a:rPr>
              <a:t>Take your certificate</a:t>
            </a:r>
            <a:endParaRPr lang="en-US" sz="2000" dirty="0"/>
          </a:p>
        </p:txBody>
      </p:sp>
      <p:sp>
        <p:nvSpPr>
          <p:cNvPr id="6" name="Text 4"/>
          <p:cNvSpPr/>
          <p:nvPr/>
        </p:nvSpPr>
        <p:spPr>
          <a:xfrm>
            <a:off x="1073123" y="2666933"/>
            <a:ext cx="5248525"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Screenshot the Vault and Compound Click certificates</a:t>
            </a:r>
            <a:endParaRPr lang="en-US" sz="1400" dirty="0"/>
          </a:p>
        </p:txBody>
      </p:sp>
      <p:sp>
        <p:nvSpPr>
          <p:cNvPr id="7" name="Shape 5"/>
          <p:cNvSpPr/>
          <p:nvPr/>
        </p:nvSpPr>
        <p:spPr>
          <a:xfrm>
            <a:off x="6172046" y="2108147"/>
            <a:ext cx="5206870" cy="1008335"/>
          </a:xfrm>
          <a:prstGeom prst="roundRect">
            <a:avLst>
              <a:gd name="adj" fmla="val 12595"/>
            </a:avLst>
          </a:prstGeom>
          <a:solidFill>
            <a:srgbClr val="16222D"/>
          </a:solidFill>
          <a:ln w="6350">
            <a:solidFill>
              <a:srgbClr val="26384A"/>
            </a:solidFill>
            <a:prstDash val="solid"/>
          </a:ln>
        </p:spPr>
      </p:sp>
      <p:sp>
        <p:nvSpPr>
          <p:cNvPr id="8" name="Text 6"/>
          <p:cNvSpPr/>
          <p:nvPr/>
        </p:nvSpPr>
        <p:spPr>
          <a:xfrm>
            <a:off x="6432389" y="2317692"/>
            <a:ext cx="5248525" cy="285743"/>
          </a:xfrm>
          <a:prstGeom prst="rect">
            <a:avLst/>
          </a:prstGeom>
          <a:noFill/>
          <a:ln/>
        </p:spPr>
        <p:txBody>
          <a:bodyPr wrap="none" lIns="0" tIns="0" rIns="0" bIns="0" rtlCol="0" anchor="t"/>
          <a:lstStyle/>
          <a:p>
            <a:pPr algn="l" indent="0" marL="0">
              <a:lnSpc>
                <a:spcPts val="2600"/>
              </a:lnSpc>
              <a:buNone/>
            </a:pPr>
            <a:r>
              <a:rPr lang="en-US" sz="2000" b="1" dirty="0">
                <a:solidFill>
                  <a:srgbClr val="3CC7BD"/>
                </a:solidFill>
                <a:latin typeface="Arial" pitchFamily="34" charset="0"/>
                <a:ea typeface="Arial" pitchFamily="34" charset="-122"/>
                <a:cs typeface="Arial" pitchFamily="34" charset="-120"/>
              </a:rPr>
              <a:t>Finish it at home</a:t>
            </a:r>
            <a:endParaRPr lang="en-US" sz="2000" dirty="0"/>
          </a:p>
        </p:txBody>
      </p:sp>
      <p:sp>
        <p:nvSpPr>
          <p:cNvPr id="9" name="Text 7"/>
          <p:cNvSpPr/>
          <p:nvPr/>
        </p:nvSpPr>
        <p:spPr>
          <a:xfrm>
            <a:off x="6432389" y="2666933"/>
            <a:ext cx="5248525"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Compound Click and the extensions</a:t>
            </a:r>
            <a:endParaRPr lang="en-US" sz="1400" dirty="0"/>
          </a:p>
        </p:txBody>
      </p:sp>
      <p:sp>
        <p:nvSpPr>
          <p:cNvPr id="10" name="Shape 8"/>
          <p:cNvSpPr/>
          <p:nvPr/>
        </p:nvSpPr>
        <p:spPr>
          <a:xfrm>
            <a:off x="812780" y="3268878"/>
            <a:ext cx="5206870" cy="1008335"/>
          </a:xfrm>
          <a:prstGeom prst="roundRect">
            <a:avLst>
              <a:gd name="adj" fmla="val 12595"/>
            </a:avLst>
          </a:prstGeom>
          <a:solidFill>
            <a:srgbClr val="16222D"/>
          </a:solidFill>
          <a:ln w="6350">
            <a:solidFill>
              <a:srgbClr val="26384A"/>
            </a:solidFill>
            <a:prstDash val="solid"/>
          </a:ln>
        </p:spPr>
      </p:sp>
      <p:sp>
        <p:nvSpPr>
          <p:cNvPr id="11" name="Text 9"/>
          <p:cNvSpPr/>
          <p:nvPr/>
        </p:nvSpPr>
        <p:spPr>
          <a:xfrm>
            <a:off x="1073123" y="3478423"/>
            <a:ext cx="5248525" cy="285743"/>
          </a:xfrm>
          <a:prstGeom prst="rect">
            <a:avLst/>
          </a:prstGeom>
          <a:noFill/>
          <a:ln/>
        </p:spPr>
        <p:txBody>
          <a:bodyPr wrap="none" lIns="0" tIns="0" rIns="0" bIns="0" rtlCol="0" anchor="t"/>
          <a:lstStyle/>
          <a:p>
            <a:pPr algn="l" indent="0" marL="0">
              <a:lnSpc>
                <a:spcPts val="2600"/>
              </a:lnSpc>
              <a:buNone/>
            </a:pPr>
            <a:r>
              <a:rPr lang="en-US" sz="2000" b="1" dirty="0">
                <a:solidFill>
                  <a:srgbClr val="FFB35C"/>
                </a:solidFill>
                <a:latin typeface="Arial" pitchFamily="34" charset="0"/>
                <a:ea typeface="Arial" pitchFamily="34" charset="-122"/>
                <a:cs typeface="Arial" pitchFamily="34" charset="-120"/>
              </a:rPr>
              <a:t>[Contact name or team]</a:t>
            </a:r>
            <a:endParaRPr lang="en-US" sz="2000" dirty="0"/>
          </a:p>
        </p:txBody>
      </p:sp>
      <p:sp>
        <p:nvSpPr>
          <p:cNvPr id="12" name="Text 10"/>
          <p:cNvSpPr/>
          <p:nvPr/>
        </p:nvSpPr>
        <p:spPr>
          <a:xfrm>
            <a:off x="1073123" y="3827664"/>
            <a:ext cx="5248525"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Talk to them about options and training</a:t>
            </a:r>
            <a:endParaRPr lang="en-US" sz="1400" dirty="0"/>
          </a:p>
        </p:txBody>
      </p:sp>
      <p:sp>
        <p:nvSpPr>
          <p:cNvPr id="13" name="Shape 11"/>
          <p:cNvSpPr/>
          <p:nvPr/>
        </p:nvSpPr>
        <p:spPr>
          <a:xfrm>
            <a:off x="6172046" y="3268878"/>
            <a:ext cx="5206870" cy="1008335"/>
          </a:xfrm>
          <a:prstGeom prst="roundRect">
            <a:avLst>
              <a:gd name="adj" fmla="val 12595"/>
            </a:avLst>
          </a:prstGeom>
          <a:solidFill>
            <a:srgbClr val="16222D"/>
          </a:solidFill>
          <a:ln w="6350">
            <a:solidFill>
              <a:srgbClr val="26384A"/>
            </a:solidFill>
            <a:prstDash val="solid"/>
          </a:ln>
        </p:spPr>
      </p:sp>
      <p:sp>
        <p:nvSpPr>
          <p:cNvPr id="14" name="Text 12"/>
          <p:cNvSpPr/>
          <p:nvPr/>
        </p:nvSpPr>
        <p:spPr>
          <a:xfrm>
            <a:off x="6432389" y="3478423"/>
            <a:ext cx="5248525" cy="285743"/>
          </a:xfrm>
          <a:prstGeom prst="rect">
            <a:avLst/>
          </a:prstGeom>
          <a:noFill/>
          <a:ln/>
        </p:spPr>
        <p:txBody>
          <a:bodyPr wrap="none" lIns="0" tIns="0" rIns="0" bIns="0" rtlCol="0" anchor="t"/>
          <a:lstStyle/>
          <a:p>
            <a:pPr algn="l" indent="0" marL="0">
              <a:lnSpc>
                <a:spcPts val="2600"/>
              </a:lnSpc>
              <a:buNone/>
            </a:pPr>
            <a:r>
              <a:rPr lang="en-US" sz="2000" b="1" dirty="0">
                <a:solidFill>
                  <a:srgbClr val="FFB35C"/>
                </a:solidFill>
                <a:latin typeface="Arial" pitchFamily="34" charset="0"/>
                <a:ea typeface="Arial" pitchFamily="34" charset="-122"/>
                <a:cs typeface="Arial" pitchFamily="34" charset="-120"/>
              </a:rPr>
              <a:t>[Follow-up link]</a:t>
            </a:r>
            <a:endParaRPr lang="en-US" sz="2000" dirty="0"/>
          </a:p>
        </p:txBody>
      </p:sp>
      <p:sp>
        <p:nvSpPr>
          <p:cNvPr id="15" name="Text 13"/>
          <p:cNvSpPr/>
          <p:nvPr/>
        </p:nvSpPr>
        <p:spPr>
          <a:xfrm>
            <a:off x="6432389" y="3827664"/>
            <a:ext cx="5248525" cy="240004"/>
          </a:xfrm>
          <a:prstGeom prst="rect">
            <a:avLst/>
          </a:prstGeom>
          <a:noFill/>
          <a:ln/>
        </p:spPr>
        <p:txBody>
          <a:bodyPr wrap="none" lIns="0" tIns="0" rIns="0" bIns="0" rtlCol="0" anchor="t"/>
          <a:lstStyle/>
          <a:p>
            <a:pPr algn="l" indent="0" marL="0">
              <a:lnSpc>
                <a:spcPts val="1890"/>
              </a:lnSpc>
              <a:buNone/>
            </a:pPr>
            <a:r>
              <a:rPr lang="en-US" sz="1400" dirty="0">
                <a:solidFill>
                  <a:srgbClr val="B7C4D1"/>
                </a:solidFill>
                <a:latin typeface="Arial" pitchFamily="34" charset="0"/>
                <a:ea typeface="Arial" pitchFamily="34" charset="-122"/>
                <a:cs typeface="Arial" pitchFamily="34" charset="-120"/>
              </a:rPr>
              <a:t>Where to go next</a:t>
            </a:r>
            <a:endParaRPr lang="en-US" sz="1400" dirty="0"/>
          </a:p>
        </p:txBody>
      </p:sp>
      <p:sp>
        <p:nvSpPr>
          <p:cNvPr id="16" name="Text 14"/>
          <p:cNvSpPr/>
          <p:nvPr/>
        </p:nvSpPr>
        <p:spPr>
          <a:xfrm>
            <a:off x="812780" y="6273643"/>
            <a:ext cx="6704226" cy="177796"/>
          </a:xfrm>
          <a:prstGeom prst="rect">
            <a:avLst/>
          </a:prstGeom>
          <a:noFill/>
          <a:ln/>
        </p:spPr>
        <p:txBody>
          <a:bodyPr wrap="none" lIns="0" tIns="0" rIns="0" bIns="0" rtlCol="0" anchor="t"/>
          <a:lstStyle/>
          <a:p>
            <a:pPr algn="l" indent="0" marL="0">
              <a:lnSpc>
                <a:spcPts val="1560"/>
              </a:lnSpc>
              <a:buNone/>
            </a:pPr>
            <a:r>
              <a:rPr lang="en-US" sz="1200" dirty="0">
                <a:solidFill>
                  <a:srgbClr val="7F93A6"/>
                </a:solidFill>
                <a:latin typeface="Arial" pitchFamily="34" charset="0"/>
                <a:ea typeface="Arial" pitchFamily="34" charset="-122"/>
                <a:cs typeface="Arial" pitchFamily="34" charset="-120"/>
              </a:rPr>
              <a:t>Replace the bracketed items before the session. The Facilitator Desk has fields for them.</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3CC7BD"/>
        </a:solidFill>
      </p:bgPr>
    </p:bg>
    <p:spTree>
      <p:nvGrpSpPr>
        <p:cNvPr id="1" name=""/>
        <p:cNvGrpSpPr/>
        <p:nvPr/>
      </p:nvGrpSpPr>
      <p:grpSpPr>
        <a:xfrm>
          <a:off x="0" y="0"/>
          <a:ext cx="0" cy="0"/>
          <a:chOff x="0" y="0"/>
          <a:chExt cx="0" cy="0"/>
        </a:xfrm>
      </p:grpSpPr>
      <p:sp>
        <p:nvSpPr>
          <p:cNvPr id="2" name="Text 0"/>
          <p:cNvSpPr/>
          <p:nvPr/>
        </p:nvSpPr>
        <p:spPr>
          <a:xfrm>
            <a:off x="812780" y="2184345"/>
            <a:ext cx="11834072" cy="1269968"/>
          </a:xfrm>
          <a:prstGeom prst="rect">
            <a:avLst/>
          </a:prstGeom>
          <a:noFill/>
          <a:ln/>
        </p:spPr>
        <p:txBody>
          <a:bodyPr wrap="none" lIns="0" tIns="0" rIns="0" bIns="0" rtlCol="0" anchor="t"/>
          <a:lstStyle/>
          <a:p>
            <a:pPr algn="l" indent="0" marL="0">
              <a:lnSpc>
                <a:spcPts val="10000"/>
              </a:lnSpc>
              <a:buNone/>
            </a:pPr>
            <a:r>
              <a:rPr lang="en-US" sz="10000" b="1" dirty="0">
                <a:solidFill>
                  <a:srgbClr val="04211F"/>
                </a:solidFill>
                <a:latin typeface="Arial" pitchFamily="34" charset="0"/>
                <a:ea typeface="Arial" pitchFamily="34" charset="-122"/>
                <a:cs typeface="Arial" pitchFamily="34" charset="-120"/>
              </a:rPr>
              <a:t>Thank you.</a:t>
            </a:r>
            <a:endParaRPr lang="en-US" sz="10000" dirty="0"/>
          </a:p>
        </p:txBody>
      </p:sp>
      <p:sp>
        <p:nvSpPr>
          <p:cNvPr id="3" name="Text 1"/>
          <p:cNvSpPr/>
          <p:nvPr/>
        </p:nvSpPr>
        <p:spPr>
          <a:xfrm>
            <a:off x="812780" y="3682908"/>
            <a:ext cx="11834072" cy="444489"/>
          </a:xfrm>
          <a:prstGeom prst="rect">
            <a:avLst/>
          </a:prstGeom>
          <a:noFill/>
          <a:ln/>
        </p:spPr>
        <p:txBody>
          <a:bodyPr wrap="none" lIns="0" tIns="0" rIns="0" bIns="0" rtlCol="0" anchor="t"/>
          <a:lstStyle/>
          <a:p>
            <a:pPr algn="l" indent="0" marL="0">
              <a:lnSpc>
                <a:spcPts val="3500"/>
              </a:lnSpc>
              <a:buNone/>
            </a:pPr>
            <a:r>
              <a:rPr lang="en-US" sz="2800" b="1" dirty="0">
                <a:solidFill>
                  <a:srgbClr val="04211F"/>
                </a:solidFill>
                <a:latin typeface="Arial" pitchFamily="34" charset="0"/>
                <a:ea typeface="Arial" pitchFamily="34" charset="-122"/>
                <a:cs typeface="Arial" pitchFamily="34" charset="-120"/>
              </a:rPr>
              <a:t>Go and build something.</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Pivot into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Pivot into Tech Facilitator Deck</dc:title>
  <dc:subject>PptxGenJS Presentation</dc:subject>
  <dc:creator>Pivot into Tech</dc:creator>
  <cp:lastModifiedBy>Pivot into Tech</cp:lastModifiedBy>
  <cp:revision>1</cp:revision>
  <dcterms:created xsi:type="dcterms:W3CDTF">2026-09-28T20:12:25Z</dcterms:created>
  <dcterms:modified xsi:type="dcterms:W3CDTF">2026-09-28T20:12:25Z</dcterms:modified>
</cp:coreProperties>
</file>